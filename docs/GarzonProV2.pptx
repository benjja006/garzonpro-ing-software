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embeddedFontLst>
    <p:embeddedFont>
      <p:font typeface="Franklin Gothic"/>
      <p:bold r:id="rId23"/>
    </p:embeddedFont>
    <p:embeddedFont>
      <p:font typeface="Bebas Neue"/>
      <p:regular r:id="rId24"/>
    </p:embeddedFont>
    <p:embeddedFont>
      <p:font typeface="Roboto Condensed"/>
      <p:regular r:id="rId25"/>
      <p:bold r:id="rId26"/>
      <p:italic r:id="rId27"/>
      <p:boldItalic r:id="rId28"/>
    </p:embeddedFont>
    <p:embeddedFont>
      <p:font typeface="Roboto Mon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B506387-6F23-40D0-9961-09DF0A3B9F55}">
  <a:tblStyle styleId="{BB506387-6F23-40D0-9961-09DF0A3B9F5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BebasNeue-regular.fntdata"/><Relationship Id="rId23" Type="http://schemas.openxmlformats.org/officeDocument/2006/relationships/font" Target="fonts/FranklinGothic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Condensed-bold.fntdata"/><Relationship Id="rId25" Type="http://schemas.openxmlformats.org/officeDocument/2006/relationships/font" Target="fonts/RobotoCondensed-regular.fntdata"/><Relationship Id="rId28" Type="http://schemas.openxmlformats.org/officeDocument/2006/relationships/font" Target="fonts/RobotoCondensed-boldItalic.fntdata"/><Relationship Id="rId27" Type="http://schemas.openxmlformats.org/officeDocument/2006/relationships/font" Target="fonts/RobotoCondense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italic.fntdata"/><Relationship Id="rId30" Type="http://schemas.openxmlformats.org/officeDocument/2006/relationships/font" Target="fonts/RobotoMon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RobotoMon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095905228_1_1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e095905228_1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095905228_1_2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e095905228_1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0fd9359ed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e0fd9359e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e095905228_1_1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e095905228_1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e095905228_1_2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e095905228_1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e095905228_1_2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e095905228_1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ddf7e3bd25_0_4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ddf7e3bd25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ddf7e3bd25_0_5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ddf7e3bd25_0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e095905228_1_2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e095905228_1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2" name="Google Shape;362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1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1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3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1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Relationship Id="rId3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obj">
  <p:cSld name="OBJEC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42"/>
            <a:ext cx="12192431" cy="685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1721213" y="5276020"/>
            <a:ext cx="4112779" cy="239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728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721214" y="5828916"/>
            <a:ext cx="5283748" cy="2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»"/>
              <a:defRPr sz="1092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Char char="•"/>
              <a:defRPr/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1721214" y="5739387"/>
            <a:ext cx="5361631" cy="0"/>
          </a:xfrm>
          <a:custGeom>
            <a:rect b="b" l="l" r="r" t="t"/>
            <a:pathLst>
              <a:path extrusionOk="0" h="120000" w="8841105">
                <a:moveTo>
                  <a:pt x="0" y="0"/>
                </a:moveTo>
                <a:lnTo>
                  <a:pt x="8840652" y="0"/>
                </a:lnTo>
              </a:path>
            </a:pathLst>
          </a:custGeom>
          <a:noFill/>
          <a:ln cap="flat" cmpd="sng" w="104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7"/>
              <a:buFont typeface="Arial"/>
              <a:buNone/>
            </a:pPr>
            <a:r>
              <a:t/>
            </a:r>
            <a:endParaRPr b="0" i="0" sz="63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Diseño personalizado">
  <p:cSld name="5_Diseño personalizado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2026"/>
            <a:ext cx="12195607" cy="68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>
            <p:ph type="title"/>
          </p:nvPr>
        </p:nvSpPr>
        <p:spPr>
          <a:xfrm>
            <a:off x="504470" y="4353155"/>
            <a:ext cx="5932243" cy="93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74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Diseño personalizado">
  <p:cSld name="6_Diseño personalizado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42"/>
            <a:ext cx="12192431" cy="685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1" y="0"/>
            <a:ext cx="1218792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4386194" y="4778652"/>
            <a:ext cx="5999201" cy="1386232"/>
          </a:xfrm>
          <a:prstGeom prst="rect">
            <a:avLst/>
          </a:prstGeom>
          <a:solidFill>
            <a:schemeClr val="dk1">
              <a:alpha val="5843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7"/>
              <a:buFont typeface="Arial"/>
              <a:buNone/>
            </a:pPr>
            <a:r>
              <a:t/>
            </a:r>
            <a:endParaRPr b="0" i="0" sz="63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646223" y="4977021"/>
            <a:ext cx="5470133" cy="93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74">
                <a:solidFill>
                  <a:srgbClr val="257CE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seño personalizado">
  <p:cSld name="1_Diseño personalizado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1474901" y="433331"/>
            <a:ext cx="10302421" cy="4479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18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/>
          <p:nvPr/>
        </p:nvSpPr>
        <p:spPr>
          <a:xfrm>
            <a:off x="-3851" y="397869"/>
            <a:ext cx="1360528" cy="643058"/>
          </a:xfrm>
          <a:custGeom>
            <a:rect b="b" l="l" r="r" t="t"/>
            <a:pathLst>
              <a:path extrusionOk="0" h="1060450" w="2243455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7"/>
              <a:buFont typeface="Arial"/>
              <a:buNone/>
            </a:pPr>
            <a:r>
              <a:t/>
            </a:r>
            <a:endParaRPr b="0" i="0" sz="63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5"/>
          <p:cNvSpPr/>
          <p:nvPr/>
        </p:nvSpPr>
        <p:spPr>
          <a:xfrm>
            <a:off x="10272195" y="6186691"/>
            <a:ext cx="955797" cy="309977"/>
          </a:xfrm>
          <a:custGeom>
            <a:rect b="b" l="l" r="r" t="t"/>
            <a:pathLst>
              <a:path extrusionOk="0" h="511175" w="1576069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34" y="299389"/>
                </a:lnTo>
                <a:lnTo>
                  <a:pt x="300723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07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588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38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59" y="484936"/>
                </a:lnTo>
                <a:lnTo>
                  <a:pt x="324205" y="466864"/>
                </a:lnTo>
                <a:lnTo>
                  <a:pt x="359016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extrusionOk="0" h="511175" w="1576069">
                <a:moveTo>
                  <a:pt x="827582" y="502602"/>
                </a:moveTo>
                <a:lnTo>
                  <a:pt x="826490" y="478307"/>
                </a:lnTo>
                <a:lnTo>
                  <a:pt x="825538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28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extrusionOk="0" h="511175" w="1576069">
                <a:moveTo>
                  <a:pt x="1244155" y="318274"/>
                </a:moveTo>
                <a:lnTo>
                  <a:pt x="1238161" y="266484"/>
                </a:lnTo>
                <a:lnTo>
                  <a:pt x="1220876" y="221424"/>
                </a:lnTo>
                <a:lnTo>
                  <a:pt x="1193355" y="184315"/>
                </a:lnTo>
                <a:lnTo>
                  <a:pt x="1156639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39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46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37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395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35" y="461340"/>
                </a:lnTo>
                <a:lnTo>
                  <a:pt x="957567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896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extrusionOk="0" h="511175" w="1576069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44" y="133451"/>
                </a:lnTo>
                <a:lnTo>
                  <a:pt x="1489964" y="132499"/>
                </a:lnTo>
                <a:lnTo>
                  <a:pt x="1436065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82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7"/>
              <a:buFont typeface="Arial"/>
              <a:buNone/>
            </a:pPr>
            <a:r>
              <a:t/>
            </a:r>
            <a:endParaRPr b="0" i="0" sz="63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5"/>
          <p:cNvSpPr/>
          <p:nvPr/>
        </p:nvSpPr>
        <p:spPr>
          <a:xfrm>
            <a:off x="11294124" y="6212763"/>
            <a:ext cx="229515" cy="284948"/>
          </a:xfrm>
          <a:custGeom>
            <a:rect b="b" l="l" r="r" t="t"/>
            <a:pathLst>
              <a:path extrusionOk="0" h="469900" w="378459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7"/>
              <a:buFont typeface="Arial"/>
              <a:buNone/>
            </a:pPr>
            <a:r>
              <a:t/>
            </a:r>
            <a:endParaRPr b="0" i="0" sz="63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" name="Google Shape;27;p5"/>
          <p:cNvGrpSpPr/>
          <p:nvPr/>
        </p:nvGrpSpPr>
        <p:grpSpPr>
          <a:xfrm>
            <a:off x="11555126" y="6135384"/>
            <a:ext cx="258961" cy="362375"/>
            <a:chOff x="19053919" y="10117702"/>
            <a:chExt cx="427015" cy="597582"/>
          </a:xfrm>
        </p:grpSpPr>
        <p:sp>
          <p:nvSpPr>
            <p:cNvPr id="28" name="Google Shape;28;p5"/>
            <p:cNvSpPr/>
            <p:nvPr/>
          </p:nvSpPr>
          <p:spPr>
            <a:xfrm>
              <a:off x="19053919" y="10237764"/>
              <a:ext cx="366395" cy="477520"/>
            </a:xfrm>
            <a:custGeom>
              <a:rect b="b" l="l" r="r" t="t"/>
              <a:pathLst>
                <a:path extrusionOk="0" h="477520" w="366394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37"/>
                <a:buFont typeface="Arial"/>
                <a:buNone/>
              </a:pPr>
              <a:r>
                <a:t/>
              </a:r>
              <a:endParaRPr b="0" i="0" sz="63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" name="Google Shape;29;p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9368634" y="10117702"/>
              <a:ext cx="112300" cy="11226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/>
          <p:nvPr/>
        </p:nvSpPr>
        <p:spPr>
          <a:xfrm>
            <a:off x="441023" y="6186691"/>
            <a:ext cx="955797" cy="309977"/>
          </a:xfrm>
          <a:custGeom>
            <a:rect b="b" l="l" r="r" t="t"/>
            <a:pathLst>
              <a:path extrusionOk="0" h="511175" w="1576070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47" y="299389"/>
                </a:lnTo>
                <a:lnTo>
                  <a:pt x="300736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19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601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50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71" y="484936"/>
                </a:lnTo>
                <a:lnTo>
                  <a:pt x="324205" y="466864"/>
                </a:lnTo>
                <a:lnTo>
                  <a:pt x="359029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extrusionOk="0" h="511175" w="1576070">
                <a:moveTo>
                  <a:pt x="827582" y="502602"/>
                </a:moveTo>
                <a:lnTo>
                  <a:pt x="826503" y="478307"/>
                </a:lnTo>
                <a:lnTo>
                  <a:pt x="825550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41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extrusionOk="0" h="511175" w="1576070">
                <a:moveTo>
                  <a:pt x="1244155" y="318274"/>
                </a:moveTo>
                <a:lnTo>
                  <a:pt x="1238161" y="266484"/>
                </a:lnTo>
                <a:lnTo>
                  <a:pt x="1220889" y="221424"/>
                </a:lnTo>
                <a:lnTo>
                  <a:pt x="1193355" y="184315"/>
                </a:lnTo>
                <a:lnTo>
                  <a:pt x="1156652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52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59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49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408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48" y="461340"/>
                </a:lnTo>
                <a:lnTo>
                  <a:pt x="957580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909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extrusionOk="0" h="511175" w="1576070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57" y="133451"/>
                </a:lnTo>
                <a:lnTo>
                  <a:pt x="1489964" y="132499"/>
                </a:lnTo>
                <a:lnTo>
                  <a:pt x="1436077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94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7"/>
              <a:buFont typeface="Arial"/>
              <a:buNone/>
            </a:pPr>
            <a:r>
              <a:t/>
            </a:r>
            <a:endParaRPr b="0" i="0" sz="63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6"/>
          <p:cNvSpPr/>
          <p:nvPr/>
        </p:nvSpPr>
        <p:spPr>
          <a:xfrm>
            <a:off x="1462952" y="6212763"/>
            <a:ext cx="229515" cy="284948"/>
          </a:xfrm>
          <a:custGeom>
            <a:rect b="b" l="l" r="r" t="t"/>
            <a:pathLst>
              <a:path extrusionOk="0" h="469900" w="37846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7"/>
              <a:buFont typeface="Arial"/>
              <a:buNone/>
            </a:pPr>
            <a:r>
              <a:t/>
            </a:r>
            <a:endParaRPr b="0" i="0" sz="63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" name="Google Shape;33;p6"/>
          <p:cNvGrpSpPr/>
          <p:nvPr/>
        </p:nvGrpSpPr>
        <p:grpSpPr>
          <a:xfrm>
            <a:off x="1723954" y="6135384"/>
            <a:ext cx="258961" cy="362375"/>
            <a:chOff x="2842727" y="10117702"/>
            <a:chExt cx="427015" cy="597582"/>
          </a:xfrm>
        </p:grpSpPr>
        <p:sp>
          <p:nvSpPr>
            <p:cNvPr id="34" name="Google Shape;34;p6"/>
            <p:cNvSpPr/>
            <p:nvPr/>
          </p:nvSpPr>
          <p:spPr>
            <a:xfrm>
              <a:off x="2842727" y="10237764"/>
              <a:ext cx="366395" cy="477520"/>
            </a:xfrm>
            <a:custGeom>
              <a:rect b="b" l="l" r="r" t="t"/>
              <a:pathLst>
                <a:path extrusionOk="0" h="477520" w="366394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37"/>
                <a:buFont typeface="Arial"/>
                <a:buNone/>
              </a:pPr>
              <a:r>
                <a:t/>
              </a:r>
              <a:endParaRPr b="0" i="0" sz="63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" name="Google Shape;35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3157442" y="10117702"/>
              <a:ext cx="112300" cy="1122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" name="Google Shape;36;p6"/>
          <p:cNvSpPr/>
          <p:nvPr/>
        </p:nvSpPr>
        <p:spPr>
          <a:xfrm>
            <a:off x="10819315" y="397869"/>
            <a:ext cx="1360528" cy="643058"/>
          </a:xfrm>
          <a:custGeom>
            <a:rect b="b" l="l" r="r" t="t"/>
            <a:pathLst>
              <a:path extrusionOk="0" h="1060450" w="2243455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7"/>
              <a:buFont typeface="Arial"/>
              <a:buNone/>
            </a:pPr>
            <a:r>
              <a:t/>
            </a:r>
            <a:endParaRPr b="0" i="0" sz="63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441023" y="458109"/>
            <a:ext cx="10183655" cy="4479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4064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»"/>
              <a:defRPr b="1" sz="2183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indent="-2921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/>
            </a:lvl8pPr>
            <a:lvl9pPr indent="-2667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Diseño personalizado">
  <p:cSld name="4_Diseño personalizado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42"/>
            <a:ext cx="12192431" cy="685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42"/>
            <a:ext cx="1218792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7"/>
          <p:cNvSpPr/>
          <p:nvPr/>
        </p:nvSpPr>
        <p:spPr>
          <a:xfrm>
            <a:off x="2676388" y="2551053"/>
            <a:ext cx="5999201" cy="1386232"/>
          </a:xfrm>
          <a:prstGeom prst="rect">
            <a:avLst/>
          </a:prstGeom>
          <a:solidFill>
            <a:schemeClr val="dk1">
              <a:alpha val="5843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7"/>
              <a:buFont typeface="Arial"/>
              <a:buNone/>
            </a:pPr>
            <a:r>
              <a:t/>
            </a:r>
            <a:endParaRPr b="0" i="0" sz="63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7"/>
          <p:cNvSpPr txBox="1"/>
          <p:nvPr>
            <p:ph type="title"/>
          </p:nvPr>
        </p:nvSpPr>
        <p:spPr>
          <a:xfrm>
            <a:off x="2936416" y="2749423"/>
            <a:ext cx="5470133" cy="93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74">
                <a:solidFill>
                  <a:srgbClr val="257CE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bg>
      <p:bgPr>
        <a:solidFill>
          <a:schemeClr val="dk2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title"/>
          </p:nvPr>
        </p:nvSpPr>
        <p:spPr>
          <a:xfrm>
            <a:off x="4828848" y="2987430"/>
            <a:ext cx="6526400" cy="289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660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1">
  <p:cSld name="TITLE_4_1_1">
    <p:bg>
      <p:bgPr>
        <a:solidFill>
          <a:schemeClr val="dk2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03076" y="186298"/>
            <a:ext cx="5082864" cy="6013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" name="Google Shape;47;p9"/>
          <p:cNvGrpSpPr/>
          <p:nvPr/>
        </p:nvGrpSpPr>
        <p:grpSpPr>
          <a:xfrm>
            <a:off x="1" y="-124"/>
            <a:ext cx="6471553" cy="5740374"/>
            <a:chOff x="0" y="-126"/>
            <a:chExt cx="4554438" cy="5386482"/>
          </a:xfrm>
        </p:grpSpPr>
        <p:sp>
          <p:nvSpPr>
            <p:cNvPr id="48" name="Google Shape;48;p9"/>
            <p:cNvSpPr/>
            <p:nvPr/>
          </p:nvSpPr>
          <p:spPr>
            <a:xfrm flipH="1" rot="10800000">
              <a:off x="0" y="-126"/>
              <a:ext cx="4554438" cy="5386482"/>
            </a:xfrm>
            <a:custGeom>
              <a:rect b="b" l="l" r="r" t="t"/>
              <a:pathLst>
                <a:path extrusionOk="0" h="6374535" w="5389868">
                  <a:moveTo>
                    <a:pt x="620377" y="6374535"/>
                  </a:moveTo>
                  <a:lnTo>
                    <a:pt x="3459520" y="6374535"/>
                  </a:lnTo>
                  <a:lnTo>
                    <a:pt x="3638761" y="6288190"/>
                  </a:lnTo>
                  <a:cubicBezTo>
                    <a:pt x="4681799" y="5721578"/>
                    <a:pt x="5389868" y="4616487"/>
                    <a:pt x="5389868" y="3346018"/>
                  </a:cubicBezTo>
                  <a:cubicBezTo>
                    <a:pt x="5389868" y="1498063"/>
                    <a:pt x="3891805" y="0"/>
                    <a:pt x="2043850" y="0"/>
                  </a:cubicBezTo>
                  <a:cubicBezTo>
                    <a:pt x="1336430" y="0"/>
                    <a:pt x="680285" y="219535"/>
                    <a:pt x="139826" y="594192"/>
                  </a:cubicBezTo>
                  <a:lnTo>
                    <a:pt x="0" y="700065"/>
                  </a:lnTo>
                  <a:lnTo>
                    <a:pt x="0" y="5991971"/>
                  </a:lnTo>
                  <a:lnTo>
                    <a:pt x="139827" y="6097845"/>
                  </a:lnTo>
                  <a:cubicBezTo>
                    <a:pt x="217035" y="6151367"/>
                    <a:pt x="296605" y="6201724"/>
                    <a:pt x="378347" y="6248727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Una caricatura de una ciudad&#10;&#10;Descripción generada automáticamente" id="49" name="Google Shape;49;p9"/>
            <p:cNvPicPr preferRelativeResize="0"/>
            <p:nvPr/>
          </p:nvPicPr>
          <p:blipFill rotWithShape="1">
            <a:blip r:embed="rId3">
              <a:alphaModFix/>
            </a:blip>
            <a:srcRect b="0" l="9870" r="6482" t="0"/>
            <a:stretch/>
          </p:blipFill>
          <p:spPr>
            <a:xfrm>
              <a:off x="1" y="-1"/>
              <a:ext cx="4423169" cy="5247982"/>
            </a:xfrm>
            <a:custGeom>
              <a:rect b="b" l="l" r="r" t="t"/>
              <a:pathLst>
                <a:path extrusionOk="0" h="6210629" w="5234519">
                  <a:moveTo>
                    <a:pt x="1082595" y="0"/>
                  </a:moveTo>
                  <a:lnTo>
                    <a:pt x="3027450" y="0"/>
                  </a:lnTo>
                  <a:lnTo>
                    <a:pt x="3291029" y="96471"/>
                  </a:lnTo>
                  <a:cubicBezTo>
                    <a:pt x="4433137" y="579542"/>
                    <a:pt x="5234519" y="1710443"/>
                    <a:pt x="5234519" y="3028517"/>
                  </a:cubicBezTo>
                  <a:cubicBezTo>
                    <a:pt x="5234519" y="4785949"/>
                    <a:pt x="3809839" y="6210629"/>
                    <a:pt x="2052407" y="6210629"/>
                  </a:cubicBezTo>
                  <a:cubicBezTo>
                    <a:pt x="1283531" y="6210629"/>
                    <a:pt x="578345" y="5937936"/>
                    <a:pt x="28288" y="5483989"/>
                  </a:cubicBezTo>
                  <a:lnTo>
                    <a:pt x="0" y="5458279"/>
                  </a:lnTo>
                  <a:lnTo>
                    <a:pt x="0" y="598754"/>
                  </a:lnTo>
                  <a:lnTo>
                    <a:pt x="28288" y="573044"/>
                  </a:lnTo>
                  <a:cubicBezTo>
                    <a:pt x="303317" y="346070"/>
                    <a:pt x="617127" y="164410"/>
                    <a:pt x="958290" y="39494"/>
                  </a:cubicBezTo>
                  <a:close/>
                </a:path>
              </a:pathLst>
            </a:custGeom>
            <a:noFill/>
            <a:ln>
              <a:noFill/>
            </a:ln>
          </p:spPr>
        </p:pic>
      </p:grpSp>
      <p:sp>
        <p:nvSpPr>
          <p:cNvPr id="50" name="Google Shape;50;p9"/>
          <p:cNvSpPr txBox="1"/>
          <p:nvPr>
            <p:ph type="title"/>
          </p:nvPr>
        </p:nvSpPr>
        <p:spPr>
          <a:xfrm>
            <a:off x="4006100" y="3476150"/>
            <a:ext cx="7994400" cy="1603200"/>
          </a:xfrm>
          <a:prstGeom prst="rect">
            <a:avLst/>
          </a:prstGeom>
          <a:solidFill>
            <a:srgbClr val="DE3075">
              <a:alpha val="63529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2">
  <p:cSld name="TITLE_4">
    <p:bg>
      <p:bgPr>
        <a:solidFill>
          <a:schemeClr val="accen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10"/>
          <p:cNvGrpSpPr/>
          <p:nvPr/>
        </p:nvGrpSpPr>
        <p:grpSpPr>
          <a:xfrm>
            <a:off x="1" y="-124"/>
            <a:ext cx="6471553" cy="5740374"/>
            <a:chOff x="0" y="-126"/>
            <a:chExt cx="4554438" cy="5386482"/>
          </a:xfrm>
        </p:grpSpPr>
        <p:sp>
          <p:nvSpPr>
            <p:cNvPr id="53" name="Google Shape;53;p10"/>
            <p:cNvSpPr/>
            <p:nvPr/>
          </p:nvSpPr>
          <p:spPr>
            <a:xfrm flipH="1" rot="10800000">
              <a:off x="0" y="-126"/>
              <a:ext cx="4554438" cy="5386482"/>
            </a:xfrm>
            <a:custGeom>
              <a:rect b="b" l="l" r="r" t="t"/>
              <a:pathLst>
                <a:path extrusionOk="0" h="6374535" w="5389868">
                  <a:moveTo>
                    <a:pt x="620377" y="6374535"/>
                  </a:moveTo>
                  <a:lnTo>
                    <a:pt x="3459520" y="6374535"/>
                  </a:lnTo>
                  <a:lnTo>
                    <a:pt x="3638761" y="6288190"/>
                  </a:lnTo>
                  <a:cubicBezTo>
                    <a:pt x="4681799" y="5721578"/>
                    <a:pt x="5389868" y="4616487"/>
                    <a:pt x="5389868" y="3346018"/>
                  </a:cubicBezTo>
                  <a:cubicBezTo>
                    <a:pt x="5389868" y="1498063"/>
                    <a:pt x="3891805" y="0"/>
                    <a:pt x="2043850" y="0"/>
                  </a:cubicBezTo>
                  <a:cubicBezTo>
                    <a:pt x="1336430" y="0"/>
                    <a:pt x="680285" y="219535"/>
                    <a:pt x="139826" y="594192"/>
                  </a:cubicBezTo>
                  <a:lnTo>
                    <a:pt x="0" y="700065"/>
                  </a:lnTo>
                  <a:lnTo>
                    <a:pt x="0" y="5991971"/>
                  </a:lnTo>
                  <a:lnTo>
                    <a:pt x="139827" y="6097845"/>
                  </a:lnTo>
                  <a:cubicBezTo>
                    <a:pt x="217035" y="6151367"/>
                    <a:pt x="296605" y="6201724"/>
                    <a:pt x="378347" y="6248727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Imagen que contiene persona, foto, hombre, mujer&#10;&#10;Descripción generada automáticamente" id="54" name="Google Shape;54;p10"/>
            <p:cNvPicPr preferRelativeResize="0"/>
            <p:nvPr/>
          </p:nvPicPr>
          <p:blipFill rotWithShape="1">
            <a:blip r:embed="rId2">
              <a:alphaModFix/>
            </a:blip>
            <a:srcRect b="0" l="0" r="16351" t="0"/>
            <a:stretch/>
          </p:blipFill>
          <p:spPr>
            <a:xfrm>
              <a:off x="1" y="-1"/>
              <a:ext cx="4423169" cy="5247982"/>
            </a:xfrm>
            <a:custGeom>
              <a:rect b="b" l="l" r="r" t="t"/>
              <a:pathLst>
                <a:path extrusionOk="0" h="6210629" w="5234519">
                  <a:moveTo>
                    <a:pt x="1082595" y="0"/>
                  </a:moveTo>
                  <a:lnTo>
                    <a:pt x="3027450" y="0"/>
                  </a:lnTo>
                  <a:lnTo>
                    <a:pt x="3291029" y="96471"/>
                  </a:lnTo>
                  <a:cubicBezTo>
                    <a:pt x="4433137" y="579542"/>
                    <a:pt x="5234519" y="1710443"/>
                    <a:pt x="5234519" y="3028517"/>
                  </a:cubicBezTo>
                  <a:cubicBezTo>
                    <a:pt x="5234519" y="4785949"/>
                    <a:pt x="3809839" y="6210629"/>
                    <a:pt x="2052407" y="6210629"/>
                  </a:cubicBezTo>
                  <a:cubicBezTo>
                    <a:pt x="1283531" y="6210629"/>
                    <a:pt x="578345" y="5937936"/>
                    <a:pt x="28288" y="5483989"/>
                  </a:cubicBezTo>
                  <a:lnTo>
                    <a:pt x="0" y="5458279"/>
                  </a:lnTo>
                  <a:lnTo>
                    <a:pt x="0" y="598754"/>
                  </a:lnTo>
                  <a:lnTo>
                    <a:pt x="28288" y="573044"/>
                  </a:lnTo>
                  <a:cubicBezTo>
                    <a:pt x="303317" y="346070"/>
                    <a:pt x="617127" y="164410"/>
                    <a:pt x="958290" y="39494"/>
                  </a:cubicBezTo>
                  <a:close/>
                </a:path>
              </a:pathLst>
            </a:custGeom>
            <a:noFill/>
            <a:ln>
              <a:noFill/>
            </a:ln>
          </p:spPr>
        </p:pic>
      </p:grpSp>
      <p:sp>
        <p:nvSpPr>
          <p:cNvPr id="55" name="Google Shape;55;p10"/>
          <p:cNvSpPr txBox="1"/>
          <p:nvPr>
            <p:ph type="title"/>
          </p:nvPr>
        </p:nvSpPr>
        <p:spPr>
          <a:xfrm>
            <a:off x="4006100" y="3476150"/>
            <a:ext cx="7994400" cy="1603200"/>
          </a:xfrm>
          <a:prstGeom prst="rect">
            <a:avLst/>
          </a:prstGeom>
          <a:solidFill>
            <a:srgbClr val="898B90">
              <a:alpha val="6784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9pPr>
          </a:lstStyle>
          <a:p/>
        </p:txBody>
      </p:sp>
      <p:pic>
        <p:nvPicPr>
          <p:cNvPr id="56" name="Google Shape;5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03076" y="186298"/>
            <a:ext cx="5082864" cy="601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3">
  <p:cSld name="TITLE_1_1">
    <p:bg>
      <p:bgPr>
        <a:solidFill>
          <a:schemeClr val="accent2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/>
          <p:nvPr/>
        </p:nvSpPr>
        <p:spPr>
          <a:xfrm flipH="1" rot="10800000">
            <a:off x="1" y="3086"/>
            <a:ext cx="6467841" cy="5737081"/>
          </a:xfrm>
          <a:custGeom>
            <a:rect b="b" l="l" r="r" t="t"/>
            <a:pathLst>
              <a:path extrusionOk="0" h="6374535" w="5389868">
                <a:moveTo>
                  <a:pt x="620377" y="6374535"/>
                </a:moveTo>
                <a:lnTo>
                  <a:pt x="3459520" y="6374535"/>
                </a:lnTo>
                <a:lnTo>
                  <a:pt x="3638761" y="6288190"/>
                </a:lnTo>
                <a:cubicBezTo>
                  <a:pt x="4681799" y="5721578"/>
                  <a:pt x="5389868" y="4616487"/>
                  <a:pt x="5389868" y="3346018"/>
                </a:cubicBezTo>
                <a:cubicBezTo>
                  <a:pt x="5389868" y="1498063"/>
                  <a:pt x="3891805" y="0"/>
                  <a:pt x="2043850" y="0"/>
                </a:cubicBezTo>
                <a:cubicBezTo>
                  <a:pt x="1336430" y="0"/>
                  <a:pt x="680285" y="219535"/>
                  <a:pt x="139826" y="594192"/>
                </a:cubicBezTo>
                <a:lnTo>
                  <a:pt x="0" y="700065"/>
                </a:lnTo>
                <a:lnTo>
                  <a:pt x="0" y="5991971"/>
                </a:lnTo>
                <a:lnTo>
                  <a:pt x="139827" y="6097845"/>
                </a:lnTo>
                <a:cubicBezTo>
                  <a:pt x="217035" y="6151367"/>
                  <a:pt x="296605" y="6201724"/>
                  <a:pt x="378347" y="624872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" name="Google Shape;59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03076" y="186298"/>
            <a:ext cx="5082864" cy="6013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a caricatura de una ciudad&#10;&#10;Descripción generada automáticamente" id="60" name="Google Shape;60;p11"/>
          <p:cNvPicPr preferRelativeResize="0"/>
          <p:nvPr/>
        </p:nvPicPr>
        <p:blipFill rotWithShape="1">
          <a:blip r:embed="rId3">
            <a:alphaModFix/>
          </a:blip>
          <a:srcRect b="0" l="9870" r="6482" t="0"/>
          <a:stretch/>
        </p:blipFill>
        <p:spPr>
          <a:xfrm>
            <a:off x="2" y="10"/>
            <a:ext cx="6281423" cy="5589566"/>
          </a:xfrm>
          <a:custGeom>
            <a:rect b="b" l="l" r="r" t="t"/>
            <a:pathLst>
              <a:path extrusionOk="0" h="6210629" w="5234519">
                <a:moveTo>
                  <a:pt x="1082595" y="0"/>
                </a:moveTo>
                <a:lnTo>
                  <a:pt x="3027450" y="0"/>
                </a:lnTo>
                <a:lnTo>
                  <a:pt x="3291029" y="96471"/>
                </a:lnTo>
                <a:cubicBezTo>
                  <a:pt x="4433137" y="579542"/>
                  <a:pt x="5234519" y="1710443"/>
                  <a:pt x="5234519" y="3028517"/>
                </a:cubicBezTo>
                <a:cubicBezTo>
                  <a:pt x="5234519" y="4785949"/>
                  <a:pt x="3809839" y="6210629"/>
                  <a:pt x="2052407" y="6210629"/>
                </a:cubicBezTo>
                <a:cubicBezTo>
                  <a:pt x="1283531" y="6210629"/>
                  <a:pt x="578345" y="5937936"/>
                  <a:pt x="28288" y="5483989"/>
                </a:cubicBezTo>
                <a:lnTo>
                  <a:pt x="0" y="5458279"/>
                </a:lnTo>
                <a:lnTo>
                  <a:pt x="0" y="598754"/>
                </a:lnTo>
                <a:lnTo>
                  <a:pt x="28288" y="573044"/>
                </a:lnTo>
                <a:cubicBezTo>
                  <a:pt x="303317" y="346070"/>
                  <a:pt x="617127" y="164410"/>
                  <a:pt x="958290" y="39494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61" name="Google Shape;61;p11"/>
          <p:cNvSpPr txBox="1"/>
          <p:nvPr>
            <p:ph type="title"/>
          </p:nvPr>
        </p:nvSpPr>
        <p:spPr>
          <a:xfrm>
            <a:off x="4006100" y="3476150"/>
            <a:ext cx="7994400" cy="1603200"/>
          </a:xfrm>
          <a:prstGeom prst="rect">
            <a:avLst/>
          </a:prstGeom>
          <a:solidFill>
            <a:srgbClr val="898B90">
              <a:alpha val="6784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1">
  <p:cSld name="Título y objetos 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/>
          <p:nvPr/>
        </p:nvSpPr>
        <p:spPr>
          <a:xfrm>
            <a:off x="1830633" y="212725"/>
            <a:ext cx="6408499" cy="8130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64" name="Google Shape;64;p12"/>
          <p:cNvSpPr/>
          <p:nvPr/>
        </p:nvSpPr>
        <p:spPr>
          <a:xfrm>
            <a:off x="1027800" y="212725"/>
            <a:ext cx="1204800" cy="813000"/>
          </a:xfrm>
          <a:prstGeom prst="parallelogram">
            <a:avLst>
              <a:gd fmla="val 45310" name="adj"/>
            </a:avLst>
          </a:prstGeom>
          <a:solidFill>
            <a:srgbClr val="8189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2"/>
          <p:cNvSpPr/>
          <p:nvPr/>
        </p:nvSpPr>
        <p:spPr>
          <a:xfrm>
            <a:off x="195229" y="212725"/>
            <a:ext cx="12048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dk2"/>
              </a:gs>
              <a:gs pos="100000">
                <a:schemeClr val="dk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2351599" y="212725"/>
            <a:ext cx="5717580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67" name="Google Shape;6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39133" y="389414"/>
            <a:ext cx="3662271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2"/>
          <p:cNvSpPr txBox="1"/>
          <p:nvPr>
            <p:ph idx="1" type="body"/>
          </p:nvPr>
        </p:nvSpPr>
        <p:spPr>
          <a:xfrm>
            <a:off x="392200" y="1218600"/>
            <a:ext cx="114076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24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69" name="Google Shape;69;p12"/>
          <p:cNvSpPr txBox="1"/>
          <p:nvPr/>
        </p:nvSpPr>
        <p:spPr>
          <a:xfrm>
            <a:off x="9220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2">
  <p:cSld name="OBJECT 2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/>
          <p:nvPr/>
        </p:nvSpPr>
        <p:spPr>
          <a:xfrm>
            <a:off x="1027800" y="212725"/>
            <a:ext cx="1204800" cy="813000"/>
          </a:xfrm>
          <a:prstGeom prst="parallelogram">
            <a:avLst>
              <a:gd fmla="val 4531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3"/>
          <p:cNvSpPr/>
          <p:nvPr/>
        </p:nvSpPr>
        <p:spPr>
          <a:xfrm>
            <a:off x="195229" y="212725"/>
            <a:ext cx="12048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accent1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39133" y="389414"/>
            <a:ext cx="3662271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3"/>
          <p:cNvSpPr txBox="1"/>
          <p:nvPr>
            <p:ph idx="1" type="body"/>
          </p:nvPr>
        </p:nvSpPr>
        <p:spPr>
          <a:xfrm>
            <a:off x="392200" y="1218600"/>
            <a:ext cx="114076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24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75" name="Google Shape;75;p13"/>
          <p:cNvSpPr/>
          <p:nvPr/>
        </p:nvSpPr>
        <p:spPr>
          <a:xfrm>
            <a:off x="1830633" y="212725"/>
            <a:ext cx="6408499" cy="8130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76" name="Google Shape;76;p13"/>
          <p:cNvSpPr txBox="1"/>
          <p:nvPr>
            <p:ph type="title"/>
          </p:nvPr>
        </p:nvSpPr>
        <p:spPr>
          <a:xfrm>
            <a:off x="2351599" y="212725"/>
            <a:ext cx="5717580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/>
        </p:nvSpPr>
        <p:spPr>
          <a:xfrm>
            <a:off x="9220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3">
  <p:cSld name="OBJECT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/>
          <p:nvPr/>
        </p:nvSpPr>
        <p:spPr>
          <a:xfrm>
            <a:off x="1027800" y="212725"/>
            <a:ext cx="1204800" cy="813000"/>
          </a:xfrm>
          <a:prstGeom prst="parallelogram">
            <a:avLst>
              <a:gd fmla="val 45310" name="adj"/>
            </a:avLst>
          </a:prstGeom>
          <a:solidFill>
            <a:srgbClr val="7027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195229" y="212725"/>
            <a:ext cx="12048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39133" y="389414"/>
            <a:ext cx="3662271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4"/>
          <p:cNvSpPr txBox="1"/>
          <p:nvPr>
            <p:ph idx="1" type="body"/>
          </p:nvPr>
        </p:nvSpPr>
        <p:spPr>
          <a:xfrm>
            <a:off x="392200" y="1218600"/>
            <a:ext cx="114076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24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83" name="Google Shape;83;p14"/>
          <p:cNvSpPr/>
          <p:nvPr/>
        </p:nvSpPr>
        <p:spPr>
          <a:xfrm>
            <a:off x="1830633" y="212725"/>
            <a:ext cx="6408499" cy="8130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84" name="Google Shape;84;p14"/>
          <p:cNvSpPr txBox="1"/>
          <p:nvPr>
            <p:ph type="title"/>
          </p:nvPr>
        </p:nvSpPr>
        <p:spPr>
          <a:xfrm>
            <a:off x="2351599" y="212725"/>
            <a:ext cx="5717580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" name="Google Shape;85;p14"/>
          <p:cNvSpPr txBox="1"/>
          <p:nvPr/>
        </p:nvSpPr>
        <p:spPr>
          <a:xfrm>
            <a:off x="9220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solidFill>
          <a:schemeClr val="dk2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/>
          <p:nvPr>
            <p:ph idx="1" type="body"/>
          </p:nvPr>
        </p:nvSpPr>
        <p:spPr>
          <a:xfrm>
            <a:off x="747184" y="2634922"/>
            <a:ext cx="10697633" cy="227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indent="-2921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/>
            </a:lvl8pPr>
            <a:lvl9pPr indent="-2667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Char char="•"/>
              <a:defRPr/>
            </a:lvl9pPr>
          </a:lstStyle>
          <a:p/>
        </p:txBody>
      </p:sp>
      <p:pic>
        <p:nvPicPr>
          <p:cNvPr id="88" name="Google Shape;8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39133" y="392751"/>
            <a:ext cx="3678716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5"/>
          <p:cNvSpPr txBox="1"/>
          <p:nvPr>
            <p:ph idx="2" type="body"/>
          </p:nvPr>
        </p:nvSpPr>
        <p:spPr>
          <a:xfrm>
            <a:off x="747184" y="1632286"/>
            <a:ext cx="10697633" cy="6657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indent="-2921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/>
            </a:lvl8pPr>
            <a:lvl9pPr indent="-2667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Char char="•"/>
              <a:defRPr/>
            </a:lvl9pPr>
          </a:lstStyle>
          <a:p/>
        </p:txBody>
      </p:sp>
      <p:sp>
        <p:nvSpPr>
          <p:cNvPr id="90" name="Google Shape;90;p15"/>
          <p:cNvSpPr/>
          <p:nvPr/>
        </p:nvSpPr>
        <p:spPr>
          <a:xfrm>
            <a:off x="1027800" y="212725"/>
            <a:ext cx="1204800" cy="813000"/>
          </a:xfrm>
          <a:prstGeom prst="parallelogram">
            <a:avLst>
              <a:gd fmla="val 453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195229" y="212725"/>
            <a:ext cx="12048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chemeClr val="dk2"/>
              </a:gs>
              <a:gs pos="65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1830633" y="212725"/>
            <a:ext cx="6408499" cy="813000"/>
          </a:xfrm>
          <a:prstGeom prst="parallelogram">
            <a:avLst>
              <a:gd fmla="val 453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93" name="Google Shape;93;p15"/>
          <p:cNvSpPr txBox="1"/>
          <p:nvPr>
            <p:ph type="title"/>
          </p:nvPr>
        </p:nvSpPr>
        <p:spPr>
          <a:xfrm>
            <a:off x="2351599" y="212725"/>
            <a:ext cx="5717580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/>
          <p:nvPr/>
        </p:nvSpPr>
        <p:spPr>
          <a:xfrm>
            <a:off x="1027800" y="212725"/>
            <a:ext cx="1204800" cy="813000"/>
          </a:xfrm>
          <a:prstGeom prst="parallelogram">
            <a:avLst>
              <a:gd fmla="val 4531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195229" y="212725"/>
            <a:ext cx="12048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accent1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39133" y="389414"/>
            <a:ext cx="3662271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6"/>
          <p:cNvSpPr/>
          <p:nvPr/>
        </p:nvSpPr>
        <p:spPr>
          <a:xfrm>
            <a:off x="1830633" y="212725"/>
            <a:ext cx="6408499" cy="8130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99" name="Google Shape;99;p16"/>
          <p:cNvSpPr txBox="1"/>
          <p:nvPr>
            <p:ph type="title"/>
          </p:nvPr>
        </p:nvSpPr>
        <p:spPr>
          <a:xfrm>
            <a:off x="2351599" y="212725"/>
            <a:ext cx="5717580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/>
        </p:nvSpPr>
        <p:spPr>
          <a:xfrm>
            <a:off x="9220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/>
        </p:nvSpPr>
        <p:spPr>
          <a:xfrm>
            <a:off x="9220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6">
  <p:cSld name="Título y objetos 6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/>
          <p:nvPr/>
        </p:nvSpPr>
        <p:spPr>
          <a:xfrm>
            <a:off x="1027800" y="212725"/>
            <a:ext cx="1204800" cy="813000"/>
          </a:xfrm>
          <a:prstGeom prst="parallelogram">
            <a:avLst>
              <a:gd fmla="val 4531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195229" y="212725"/>
            <a:ext cx="12048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lt2"/>
              </a:gs>
              <a:gs pos="100000">
                <a:schemeClr val="l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39133" y="389414"/>
            <a:ext cx="3662271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>
            <p:ph idx="1" type="body"/>
          </p:nvPr>
        </p:nvSpPr>
        <p:spPr>
          <a:xfrm>
            <a:off x="392200" y="1218600"/>
            <a:ext cx="114076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24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108" name="Google Shape;108;p18"/>
          <p:cNvSpPr/>
          <p:nvPr/>
        </p:nvSpPr>
        <p:spPr>
          <a:xfrm>
            <a:off x="1830633" y="212725"/>
            <a:ext cx="6408499" cy="8130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09" name="Google Shape;109;p18"/>
          <p:cNvSpPr txBox="1"/>
          <p:nvPr>
            <p:ph type="title"/>
          </p:nvPr>
        </p:nvSpPr>
        <p:spPr>
          <a:xfrm>
            <a:off x="2351599" y="212725"/>
            <a:ext cx="5717580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/>
        </p:nvSpPr>
        <p:spPr>
          <a:xfrm>
            <a:off x="9220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Diseño personalizado">
  <p:cSld name="3_Diseño personalizado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41" y="0"/>
            <a:ext cx="1218792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9"/>
          <p:cNvSpPr txBox="1"/>
          <p:nvPr>
            <p:ph type="title"/>
          </p:nvPr>
        </p:nvSpPr>
        <p:spPr>
          <a:xfrm>
            <a:off x="4016505" y="4260740"/>
            <a:ext cx="5932243" cy="93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74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41" y="0"/>
            <a:ext cx="1218792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0"/>
          <p:cNvSpPr txBox="1"/>
          <p:nvPr>
            <p:ph type="title"/>
          </p:nvPr>
        </p:nvSpPr>
        <p:spPr>
          <a:xfrm>
            <a:off x="2907441" y="4214532"/>
            <a:ext cx="5932243" cy="93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74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2907441" y="4214532"/>
            <a:ext cx="5932243" cy="93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74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119" name="Google Shape;119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242"/>
            <a:ext cx="1218792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2907441" y="4214532"/>
            <a:ext cx="5932243" cy="93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74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122" name="Google Shape;122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41" y="0"/>
            <a:ext cx="1218792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Diseño personalizado">
  <p:cSld name="8_Diseño personalizado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431" cy="685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3"/>
          <p:cNvSpPr/>
          <p:nvPr/>
        </p:nvSpPr>
        <p:spPr>
          <a:xfrm>
            <a:off x="293939" y="1601757"/>
            <a:ext cx="5999201" cy="1386232"/>
          </a:xfrm>
          <a:prstGeom prst="rect">
            <a:avLst/>
          </a:prstGeom>
          <a:solidFill>
            <a:schemeClr val="dk1">
              <a:alpha val="5843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7"/>
              <a:buFont typeface="Arial"/>
              <a:buNone/>
            </a:pPr>
            <a:r>
              <a:t/>
            </a:r>
            <a:endParaRPr b="0" i="0" sz="63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3"/>
          <p:cNvSpPr txBox="1"/>
          <p:nvPr>
            <p:ph type="title"/>
          </p:nvPr>
        </p:nvSpPr>
        <p:spPr>
          <a:xfrm>
            <a:off x="558472" y="1828283"/>
            <a:ext cx="5470133" cy="93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74">
                <a:solidFill>
                  <a:srgbClr val="257CE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" name="Google Shape;127;p23"/>
          <p:cNvSpPr/>
          <p:nvPr/>
        </p:nvSpPr>
        <p:spPr>
          <a:xfrm>
            <a:off x="3900641" y="3874990"/>
            <a:ext cx="7653405" cy="2568339"/>
          </a:xfrm>
          <a:prstGeom prst="rect">
            <a:avLst/>
          </a:prstGeom>
          <a:solidFill>
            <a:schemeClr val="dk1">
              <a:alpha val="5843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7"/>
              <a:buFont typeface="Arial"/>
              <a:buNone/>
            </a:pPr>
            <a:r>
              <a:t/>
            </a:r>
            <a:endParaRPr b="0" i="0" sz="63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42"/>
            <a:ext cx="12192431" cy="685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267"/>
            <a:ext cx="12195179" cy="685573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4"/>
          <p:cNvSpPr/>
          <p:nvPr/>
        </p:nvSpPr>
        <p:spPr>
          <a:xfrm>
            <a:off x="458260" y="3798662"/>
            <a:ext cx="5999201" cy="1386232"/>
          </a:xfrm>
          <a:prstGeom prst="rect">
            <a:avLst/>
          </a:prstGeom>
          <a:solidFill>
            <a:schemeClr val="dk1">
              <a:alpha val="5843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7"/>
              <a:buFont typeface="Arial"/>
              <a:buNone/>
            </a:pPr>
            <a:r>
              <a:t/>
            </a:r>
            <a:endParaRPr b="0" i="0" sz="63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4"/>
          <p:cNvSpPr txBox="1"/>
          <p:nvPr>
            <p:ph type="title"/>
          </p:nvPr>
        </p:nvSpPr>
        <p:spPr>
          <a:xfrm>
            <a:off x="718288" y="3997032"/>
            <a:ext cx="5470133" cy="93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74">
                <a:solidFill>
                  <a:srgbClr val="257CE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392200" y="1218600"/>
            <a:ext cx="114076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b="0" i="0" sz="24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b="0"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b="0"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b="0"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b="0" i="0" sz="14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b="0"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b="0"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b="0"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b="0"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9220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2351600" y="212725"/>
            <a:ext cx="90024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9.png"/><Relationship Id="rId4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ctrTitle"/>
          </p:nvPr>
        </p:nvSpPr>
        <p:spPr>
          <a:xfrm>
            <a:off x="1721213" y="5276020"/>
            <a:ext cx="4112779" cy="2392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ES" sz="3600"/>
              <a:t>Ingeniería de Software</a:t>
            </a:r>
            <a:br>
              <a:rPr lang="es-ES" sz="3600"/>
            </a:br>
            <a:r>
              <a:rPr lang="es-ES" sz="3600"/>
              <a:t>Evaluación N°2</a:t>
            </a:r>
            <a:endParaRPr sz="3600"/>
          </a:p>
        </p:txBody>
      </p:sp>
      <p:sp>
        <p:nvSpPr>
          <p:cNvPr id="139" name="Google Shape;139;p26"/>
          <p:cNvSpPr/>
          <p:nvPr>
            <p:ph idx="1" type="subTitle"/>
          </p:nvPr>
        </p:nvSpPr>
        <p:spPr>
          <a:xfrm>
            <a:off x="1315862" y="5753502"/>
            <a:ext cx="5283748" cy="693523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0" lIns="91425" spcFirstLastPara="1" rIns="182875" wrap="square" tIns="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s-ES" sz="3600"/>
              <a:t>RQY1101</a:t>
            </a:r>
            <a:endParaRPr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idx="4294967295" type="sldNum"/>
          </p:nvPr>
        </p:nvSpPr>
        <p:spPr>
          <a:xfrm>
            <a:off x="1013460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45" name="Google Shape;145;p27"/>
          <p:cNvSpPr txBox="1"/>
          <p:nvPr>
            <p:ph idx="4294967295" type="body"/>
          </p:nvPr>
        </p:nvSpPr>
        <p:spPr>
          <a:xfrm>
            <a:off x="340713" y="3011446"/>
            <a:ext cx="6096000" cy="2644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50800" rtl="0" algn="l"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b="1" lang="es-ES">
                <a:solidFill>
                  <a:schemeClr val="dk1"/>
                </a:solidFill>
              </a:rPr>
              <a:t>Sección: </a:t>
            </a:r>
            <a:r>
              <a:rPr lang="es-ES" sz="2200">
                <a:solidFill>
                  <a:schemeClr val="dk1"/>
                </a:solidFill>
              </a:rPr>
              <a:t>002D</a:t>
            </a:r>
            <a:br>
              <a:rPr b="1" lang="es-ES">
                <a:solidFill>
                  <a:schemeClr val="dk1"/>
                </a:solidFill>
              </a:rPr>
            </a:br>
            <a:r>
              <a:rPr b="1" lang="es-ES">
                <a:solidFill>
                  <a:schemeClr val="dk1"/>
                </a:solidFill>
              </a:rPr>
              <a:t>Docente:</a:t>
            </a:r>
            <a:r>
              <a:rPr lang="es-ES" sz="2200">
                <a:solidFill>
                  <a:schemeClr val="dk1"/>
                </a:solidFill>
              </a:rPr>
              <a:t>Carlos Fabian Delgado Guerrero</a:t>
            </a:r>
            <a:br>
              <a:rPr b="1" lang="es-ES">
                <a:solidFill>
                  <a:schemeClr val="dk1"/>
                </a:solidFill>
              </a:rPr>
            </a:br>
            <a:r>
              <a:rPr b="1" lang="es-ES">
                <a:solidFill>
                  <a:schemeClr val="dk1"/>
                </a:solidFill>
              </a:rPr>
              <a:t>Grupo Nº: </a:t>
            </a:r>
            <a:br>
              <a:rPr b="1" lang="es-ES">
                <a:solidFill>
                  <a:schemeClr val="dk1"/>
                </a:solidFill>
              </a:rPr>
            </a:br>
            <a:r>
              <a:rPr b="1" lang="es-ES">
                <a:solidFill>
                  <a:schemeClr val="dk1"/>
                </a:solidFill>
              </a:rPr>
              <a:t>Integrantes: </a:t>
            </a:r>
            <a:r>
              <a:rPr lang="es-ES" sz="2200">
                <a:solidFill>
                  <a:schemeClr val="dk1"/>
                </a:solidFill>
              </a:rPr>
              <a:t>Benjamin Sepulveda, Luis Figueroa, Alan Mancilla, Benjamin Yovanovich</a:t>
            </a:r>
            <a:endParaRPr sz="2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>
            <p:ph type="title"/>
          </p:nvPr>
        </p:nvSpPr>
        <p:spPr>
          <a:xfrm>
            <a:off x="4783383" y="4972050"/>
            <a:ext cx="5470133" cy="891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s-ES" sz="4000">
                <a:solidFill>
                  <a:schemeClr val="lt1"/>
                </a:solidFill>
              </a:rPr>
              <a:t>Introducción</a:t>
            </a:r>
            <a:endParaRPr sz="4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type="title"/>
          </p:nvPr>
        </p:nvSpPr>
        <p:spPr>
          <a:xfrm>
            <a:off x="1474901" y="433331"/>
            <a:ext cx="10302421" cy="4479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ES"/>
              <a:t>Entorno de negocio</a:t>
            </a:r>
            <a:endParaRPr/>
          </a:p>
        </p:txBody>
      </p:sp>
      <p:sp>
        <p:nvSpPr>
          <p:cNvPr id="156" name="Google Shape;156;p29"/>
          <p:cNvSpPr txBox="1"/>
          <p:nvPr/>
        </p:nvSpPr>
        <p:spPr>
          <a:xfrm>
            <a:off x="3168575" y="339800"/>
            <a:ext cx="21669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</a:pPr>
            <a:r>
              <a:rPr b="1" lang="es-ES" sz="2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Problemática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9"/>
          <p:cNvSpPr txBox="1"/>
          <p:nvPr/>
        </p:nvSpPr>
        <p:spPr>
          <a:xfrm>
            <a:off x="371200" y="1272225"/>
            <a:ext cx="10608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pic>
        <p:nvPicPr>
          <p:cNvPr id="158" name="Google Shape;15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4099" y="1437550"/>
            <a:ext cx="2724000" cy="1812703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9"/>
          <p:cNvSpPr txBox="1"/>
          <p:nvPr/>
        </p:nvSpPr>
        <p:spPr>
          <a:xfrm>
            <a:off x="5620075" y="957950"/>
            <a:ext cx="27240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dk1"/>
                </a:solidFill>
              </a:rPr>
              <a:t>GarzonPro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160" name="Google Shape;160;p29"/>
          <p:cNvSpPr txBox="1"/>
          <p:nvPr/>
        </p:nvSpPr>
        <p:spPr>
          <a:xfrm>
            <a:off x="824850" y="1722138"/>
            <a:ext cx="3000000" cy="18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s-ES"/>
              <a:t>La industria carece de un sistema de gestión de inventario.</a:t>
            </a:r>
            <a:endParaRPr b="1" i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ES" sz="1300"/>
              <a:t>X</a:t>
            </a:r>
            <a:r>
              <a:rPr lang="es-ES" sz="1300"/>
              <a:t> Uso ineficiente del espacio en bodega.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-ES" sz="1300"/>
              <a:t>X</a:t>
            </a:r>
            <a:r>
              <a:rPr lang="es-ES" sz="1300"/>
              <a:t> Desorganización y conflictos entre el staff.</a:t>
            </a:r>
            <a:endParaRPr b="1" sz="1300"/>
          </a:p>
        </p:txBody>
      </p:sp>
      <p:sp>
        <p:nvSpPr>
          <p:cNvPr id="161" name="Google Shape;161;p29"/>
          <p:cNvSpPr txBox="1"/>
          <p:nvPr/>
        </p:nvSpPr>
        <p:spPr>
          <a:xfrm>
            <a:off x="8910525" y="1834525"/>
            <a:ext cx="3000000" cy="1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ES" sz="1300"/>
              <a:t>X</a:t>
            </a:r>
            <a:r>
              <a:rPr lang="es-ES" sz="1300"/>
              <a:t> Tiempos de espera prolongados que afectan la experiencia del cliente.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-ES" sz="1300"/>
              <a:t>X</a:t>
            </a:r>
            <a:r>
              <a:rPr lang="es-ES" sz="1300"/>
              <a:t> Dificultad para dividir cuentas y cuadrar las ventas diarias.</a:t>
            </a:r>
            <a:endParaRPr sz="1300"/>
          </a:p>
        </p:txBody>
      </p:sp>
      <p:sp>
        <p:nvSpPr>
          <p:cNvPr id="162" name="Google Shape;162;p29"/>
          <p:cNvSpPr txBox="1"/>
          <p:nvPr/>
        </p:nvSpPr>
        <p:spPr>
          <a:xfrm>
            <a:off x="2450575" y="4196150"/>
            <a:ext cx="3958800" cy="10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ES" sz="1100"/>
              <a:t>Propuesta</a:t>
            </a:r>
            <a:endParaRPr b="1" sz="1100"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100"/>
              <a:t>Implementación de un sistema integral de </a:t>
            </a:r>
            <a:r>
              <a:rPr b="1" lang="es-ES" sz="1100"/>
              <a:t>Punto de Venta  y Pantalla de Cocina (KDS)</a:t>
            </a:r>
            <a:r>
              <a:rPr lang="es-ES" sz="1100"/>
              <a:t>, rápido, seguro y sincronizado en tiempo real.</a:t>
            </a:r>
            <a:endParaRPr sz="1100"/>
          </a:p>
        </p:txBody>
      </p:sp>
      <p:pic>
        <p:nvPicPr>
          <p:cNvPr id="163" name="Google Shape;16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96425" y="4016900"/>
            <a:ext cx="2962275" cy="154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>
            <p:ph type="title"/>
          </p:nvPr>
        </p:nvSpPr>
        <p:spPr>
          <a:xfrm>
            <a:off x="1474901" y="433331"/>
            <a:ext cx="103023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s-ES" sz="2800">
                <a:solidFill>
                  <a:schemeClr val="dk1"/>
                </a:solidFill>
              </a:rPr>
              <a:t>La visión/solución</a:t>
            </a:r>
            <a:endParaRPr/>
          </a:p>
        </p:txBody>
      </p:sp>
      <p:pic>
        <p:nvPicPr>
          <p:cNvPr id="169" name="Google Shape;169;p30" title="Gemini_Generated_Image_i7istki7istki7i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5051" y="1680151"/>
            <a:ext cx="3302101" cy="190039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0"/>
          <p:cNvSpPr txBox="1"/>
          <p:nvPr/>
        </p:nvSpPr>
        <p:spPr>
          <a:xfrm>
            <a:off x="4571325" y="1743150"/>
            <a:ext cx="38025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rgbClr val="818990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71" name="Google Shape;171;p30"/>
          <p:cNvSpPr txBox="1"/>
          <p:nvPr/>
        </p:nvSpPr>
        <p:spPr>
          <a:xfrm>
            <a:off x="5220175" y="782275"/>
            <a:ext cx="3802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/>
              <a:t>Excelencia en Gestión Gastronómica Local </a:t>
            </a:r>
            <a:endParaRPr b="1" sz="1800"/>
          </a:p>
        </p:txBody>
      </p:sp>
      <p:sp>
        <p:nvSpPr>
          <p:cNvPr id="172" name="Google Shape;172;p30"/>
          <p:cNvSpPr txBox="1"/>
          <p:nvPr/>
        </p:nvSpPr>
        <p:spPr>
          <a:xfrm>
            <a:off x="581150" y="1629300"/>
            <a:ext cx="33021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/>
              <a:t>Transformación Digital </a:t>
            </a:r>
            <a:endParaRPr b="1" sz="18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-ES" sz="1500"/>
              <a:t>Sustitución de comandas manuales por interfaces táctiles.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-ES" sz="1500"/>
              <a:t>Flujo de información instantáneo entre salón y cocina.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-ES" sz="1500"/>
              <a:t>Eliminación de errores por legibilidad o pérdida de papel.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-ES" sz="1500"/>
              <a:t>Infraestructura robusta basada en red local.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73" name="Google Shape;173;p30"/>
          <p:cNvSpPr txBox="1"/>
          <p:nvPr/>
        </p:nvSpPr>
        <p:spPr>
          <a:xfrm>
            <a:off x="6147125" y="4128325"/>
            <a:ext cx="2981100" cy="10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818990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  <p:sp>
        <p:nvSpPr>
          <p:cNvPr id="174" name="Google Shape;174;p30"/>
          <p:cNvSpPr txBox="1"/>
          <p:nvPr/>
        </p:nvSpPr>
        <p:spPr>
          <a:xfrm>
            <a:off x="8764800" y="1843150"/>
            <a:ext cx="3802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700"/>
              <a:t>Eficiencia en el Servicio </a:t>
            </a:r>
            <a:endParaRPr b="1" sz="1700"/>
          </a:p>
        </p:txBody>
      </p:sp>
      <p:pic>
        <p:nvPicPr>
          <p:cNvPr id="175" name="Google Shape;175;p30" title="Gemini_Generated_Image_zd4rkczd4rkczd4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61175" y="4128325"/>
            <a:ext cx="2161500" cy="216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0"/>
          <p:cNvSpPr txBox="1"/>
          <p:nvPr/>
        </p:nvSpPr>
        <p:spPr>
          <a:xfrm>
            <a:off x="8881750" y="2289550"/>
            <a:ext cx="3000000" cy="24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-ES" sz="1500"/>
              <a:t>Optimización del tiempo de respuesta de los garzones.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-ES" sz="1500"/>
              <a:t>Gestión dinámica y visual del estado de las mesas.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-ES" sz="1500"/>
              <a:t>Reducción drástica de los tiempos de espera del cliente.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s-ES" sz="1500"/>
              <a:t>Interfaz intuitiva diseñada para </a:t>
            </a:r>
            <a:r>
              <a:rPr lang="es-ES" sz="1500"/>
              <a:t>rápido</a:t>
            </a:r>
            <a:r>
              <a:rPr lang="es-ES" sz="1500"/>
              <a:t> aprendizaje.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0"/>
          <p:cNvSpPr txBox="1"/>
          <p:nvPr/>
        </p:nvSpPr>
        <p:spPr>
          <a:xfrm>
            <a:off x="2869875" y="4787225"/>
            <a:ext cx="35619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/>
              <a:t>GarzonPro</a:t>
            </a:r>
            <a:r>
              <a:rPr lang="es-ES" sz="1600"/>
              <a:t> facilita y agiliza el trabajo del garzón. Al automatizar las comandas y evitar viajes a la cocina, elimina errores manuales y reduce su carga de estrés, permitiéndole entregar un servicio rápido y eficiente </a:t>
            </a:r>
            <a:endParaRPr b="1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>
            <p:ph type="title"/>
          </p:nvPr>
        </p:nvSpPr>
        <p:spPr>
          <a:xfrm>
            <a:off x="2936416" y="2749423"/>
            <a:ext cx="5470133" cy="93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s-ES" sz="2600">
                <a:solidFill>
                  <a:schemeClr val="lt1"/>
                </a:solidFill>
              </a:rPr>
              <a:t>Descripción General del Proyecto</a:t>
            </a:r>
            <a:endParaRPr sz="2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/>
          <p:nvPr>
            <p:ph type="title"/>
          </p:nvPr>
        </p:nvSpPr>
        <p:spPr>
          <a:xfrm>
            <a:off x="1462526" y="433331"/>
            <a:ext cx="10302300" cy="447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s-ES" sz="2800">
                <a:solidFill>
                  <a:schemeClr val="dk1"/>
                </a:solidFill>
              </a:rPr>
              <a:t>Diagrama de Clases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8" name="Google Shape;188;p32"/>
          <p:cNvPicPr preferRelativeResize="0"/>
          <p:nvPr/>
        </p:nvPicPr>
        <p:blipFill rotWithShape="1">
          <a:blip r:embed="rId3">
            <a:alphaModFix/>
          </a:blip>
          <a:srcRect b="45133" l="2336" r="42443" t="0"/>
          <a:stretch/>
        </p:blipFill>
        <p:spPr>
          <a:xfrm>
            <a:off x="269175" y="1122200"/>
            <a:ext cx="11181174" cy="504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2"/>
          <p:cNvSpPr txBox="1"/>
          <p:nvPr/>
        </p:nvSpPr>
        <p:spPr>
          <a:xfrm>
            <a:off x="3250625" y="4195975"/>
            <a:ext cx="6289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300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..*</a:t>
            </a:r>
            <a:endParaRPr b="1" sz="1300">
              <a:solidFill>
                <a:srgbClr val="818990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/>
          <p:nvPr>
            <p:ph type="title"/>
          </p:nvPr>
        </p:nvSpPr>
        <p:spPr>
          <a:xfrm>
            <a:off x="1474901" y="433331"/>
            <a:ext cx="10302300" cy="447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chemeClr val="dk1"/>
                </a:solidFill>
              </a:rPr>
              <a:t>Diagrama de Secuencia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050" y="1119000"/>
            <a:ext cx="9433351" cy="488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4"/>
          <p:cNvSpPr txBox="1"/>
          <p:nvPr>
            <p:ph type="title"/>
          </p:nvPr>
        </p:nvSpPr>
        <p:spPr>
          <a:xfrm>
            <a:off x="1474901" y="433331"/>
            <a:ext cx="10302300" cy="447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rgbClr val="000000"/>
                </a:solidFill>
              </a:rPr>
              <a:t>Los 5 elementos del diseño</a:t>
            </a:r>
            <a:endParaRPr b="1" sz="2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800"/>
          </a:p>
        </p:txBody>
      </p:sp>
      <p:graphicFrame>
        <p:nvGraphicFramePr>
          <p:cNvPr id="201" name="Google Shape;201;p34"/>
          <p:cNvGraphicFramePr/>
          <p:nvPr/>
        </p:nvGraphicFramePr>
        <p:xfrm>
          <a:off x="684725" y="1402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{BB506387-6F23-40D0-9961-09DF0A3B9F55}</a:tableStyleId>
              </a:tblPr>
              <a:tblGrid>
                <a:gridCol w="1504025"/>
                <a:gridCol w="9484250"/>
              </a:tblGrid>
              <a:tr h="453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Elemento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Descripción Técnica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627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Arquitectura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1F1F1F"/>
                          </a:solidFill>
                        </a:rPr>
                        <a:t>Se utiliza el </a:t>
                      </a: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Modelo de Vistas 4+1 (Kruchten)</a:t>
                      </a:r>
                      <a:r>
                        <a:rPr lang="es-ES" sz="1100">
                          <a:solidFill>
                            <a:srgbClr val="1F1F1F"/>
                          </a:solidFill>
                        </a:rPr>
                        <a:t>. Esto permite separar las preocupaciones de los distintos roles (usuarios, desarrolladores, ingenieros de sistemas) mediante un sistema de capas (Presentación, Lógica y Datos).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7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Subsistemas (Paquetes)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1F1F1F"/>
                          </a:solidFill>
                        </a:rPr>
                        <a:t>El software se divide en módulos lógicos independientes: </a:t>
                      </a: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Seguridad</a:t>
                      </a:r>
                      <a:r>
                        <a:rPr lang="es-ES" sz="1100">
                          <a:solidFill>
                            <a:srgbClr val="1F1F1F"/>
                          </a:solidFill>
                        </a:rPr>
                        <a:t> (Gestión de PINs), </a:t>
                      </a: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Comandas</a:t>
                      </a:r>
                      <a:r>
                        <a:rPr lang="es-ES" sz="1100">
                          <a:solidFill>
                            <a:srgbClr val="1F1F1F"/>
                          </a:solidFill>
                        </a:rPr>
                        <a:t> (Toma de pedidos y flujo a cocina) y </a:t>
                      </a: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Administración/Ventas</a:t>
                      </a:r>
                      <a:r>
                        <a:rPr lang="es-ES" sz="1100">
                          <a:solidFill>
                            <a:srgbClr val="1F1F1F"/>
                          </a:solidFill>
                        </a:rPr>
                        <a:t> (Gestión de stock y reportes).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7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Componentes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1F1F1F"/>
                          </a:solidFill>
                        </a:rPr>
                        <a:t>Son las piezas de software reutilizables. En Garzón Pro destacan el </a:t>
                      </a: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Motor de Impresión</a:t>
                      </a:r>
                      <a:r>
                        <a:rPr lang="es-ES" sz="1100">
                          <a:solidFill>
                            <a:srgbClr val="1F1F1F"/>
                          </a:solidFill>
                        </a:rPr>
                        <a:t> (para los tickets), el </a:t>
                      </a: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Gestor de Estados de Mesa</a:t>
                      </a:r>
                      <a:r>
                        <a:rPr lang="es-ES" sz="1100">
                          <a:solidFill>
                            <a:srgbClr val="1F1F1F"/>
                          </a:solidFill>
                        </a:rPr>
                        <a:t> y la base de datos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7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Interfaces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1F1F1F"/>
                          </a:solidFill>
                        </a:rPr>
                        <a:t>Define cómo se comunican las partes. Se utiliza una interfaz de red basada en </a:t>
                      </a: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TCP/IP</a:t>
                      </a:r>
                      <a:r>
                        <a:rPr lang="es-ES" sz="1100">
                          <a:solidFill>
                            <a:srgbClr val="1F1F1F"/>
                          </a:solidFill>
                        </a:rPr>
                        <a:t> para el Servidor Local y </a:t>
                      </a: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GUIs táctiles</a:t>
                      </a:r>
                      <a:r>
                        <a:rPr lang="es-ES" sz="1100">
                          <a:solidFill>
                            <a:srgbClr val="1F1F1F"/>
                          </a:solidFill>
                        </a:rPr>
                        <a:t> optimizadas para el flujo de trabajo rápido del personal.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8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Clases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1F1F1F"/>
                          </a:solidFill>
                        </a:rPr>
                        <a:t>Representan las plantillas de los objetos del negocio. En el diseño de Garzón Pro, las clases fundamentales son </a:t>
                      </a: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Mesa, Pedido, Platos, Venta y Usuario</a:t>
                      </a:r>
                      <a:r>
                        <a:rPr lang="es-ES" sz="1100">
                          <a:solidFill>
                            <a:srgbClr val="1F1F1F"/>
                          </a:solidFill>
                        </a:rPr>
                        <a:t>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5"/>
          <p:cNvSpPr txBox="1"/>
          <p:nvPr>
            <p:ph type="title"/>
          </p:nvPr>
        </p:nvSpPr>
        <p:spPr>
          <a:xfrm>
            <a:off x="4783383" y="4972050"/>
            <a:ext cx="54702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s-ES" sz="4000">
                <a:solidFill>
                  <a:schemeClr val="lt1"/>
                </a:solidFill>
              </a:rPr>
              <a:t>Clases del diseño</a:t>
            </a:r>
            <a:endParaRPr b="1" sz="4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b="1" sz="4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6"/>
          <p:cNvSpPr txBox="1"/>
          <p:nvPr>
            <p:ph type="title"/>
          </p:nvPr>
        </p:nvSpPr>
        <p:spPr>
          <a:xfrm>
            <a:off x="1474901" y="433331"/>
            <a:ext cx="10302300" cy="447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chemeClr val="dk1"/>
                </a:solidFill>
              </a:rPr>
              <a:t>Modelo de vistas 4+1 (Las 5 clases del diseño)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6"/>
          <p:cNvSpPr/>
          <p:nvPr/>
        </p:nvSpPr>
        <p:spPr>
          <a:xfrm>
            <a:off x="4897626" y="2342918"/>
            <a:ext cx="2406300" cy="1503900"/>
          </a:xfrm>
          <a:prstGeom prst="ellipse">
            <a:avLst/>
          </a:prstGeom>
          <a:solidFill>
            <a:srgbClr val="2563EB"/>
          </a:solidFill>
          <a:ln cap="flat" cmpd="sng" w="13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11403" rotWithShape="0" algn="bl" dir="8100000" dist="41776">
              <a:srgbClr val="000000">
                <a:alpha val="18040"/>
              </a:srgbClr>
            </a:outerShdw>
          </a:effectLst>
        </p:spPr>
        <p:txBody>
          <a:bodyPr anchorCtr="0" anchor="t" bIns="50100" lIns="100250" spcFirstLastPara="1" rIns="100250" wrap="square" tIns="50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74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6"/>
          <p:cNvSpPr/>
          <p:nvPr/>
        </p:nvSpPr>
        <p:spPr>
          <a:xfrm>
            <a:off x="5306125" y="2553075"/>
            <a:ext cx="1859700" cy="10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100" lIns="100250" spcFirstLastPara="1" rIns="100250" wrap="square" tIns="50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145">
                <a:solidFill>
                  <a:srgbClr val="FFFFFF"/>
                </a:solidFill>
              </a:rPr>
              <a:t>Casos de Uso.</a:t>
            </a:r>
            <a:endParaRPr b="1" sz="1145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145">
                <a:solidFill>
                  <a:srgbClr val="FFFFFF"/>
                </a:solidFill>
              </a:rPr>
              <a:t>Ejemplo: "Realizar Pedido".</a:t>
            </a:r>
            <a:endParaRPr b="1" sz="1145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145">
                <a:solidFill>
                  <a:srgbClr val="FFFFFF"/>
                </a:solidFill>
              </a:rPr>
              <a:t>Ejemplo: "Cerrar Mesa".</a:t>
            </a:r>
            <a:endParaRPr b="1" sz="1145">
              <a:solidFill>
                <a:srgbClr val="FFFFFF"/>
              </a:solidFill>
            </a:endParaRPr>
          </a:p>
        </p:txBody>
      </p:sp>
      <p:sp>
        <p:nvSpPr>
          <p:cNvPr id="214" name="Google Shape;214;p36"/>
          <p:cNvSpPr/>
          <p:nvPr/>
        </p:nvSpPr>
        <p:spPr>
          <a:xfrm>
            <a:off x="1388425" y="1490682"/>
            <a:ext cx="3108300" cy="1704600"/>
          </a:xfrm>
          <a:prstGeom prst="rect">
            <a:avLst/>
          </a:prstGeom>
          <a:solidFill>
            <a:srgbClr val="7C3AED"/>
          </a:solidFill>
          <a:ln cap="flat" cmpd="sng" w="13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11403" rotWithShape="0" algn="bl" dir="8100000" dist="41776">
              <a:srgbClr val="000000">
                <a:alpha val="18040"/>
              </a:srgbClr>
            </a:outerShdw>
          </a:effectLst>
        </p:spPr>
        <p:txBody>
          <a:bodyPr anchorCtr="0" anchor="t" bIns="50100" lIns="100250" spcFirstLastPara="1" rIns="100250" wrap="square" tIns="50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74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6"/>
          <p:cNvSpPr/>
          <p:nvPr/>
        </p:nvSpPr>
        <p:spPr>
          <a:xfrm>
            <a:off x="1388425" y="1570893"/>
            <a:ext cx="31083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100" lIns="100250" spcFirstLastPara="1" rIns="100250" wrap="square" tIns="50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45"/>
              <a:buFont typeface="Calibri"/>
              <a:buNone/>
            </a:pPr>
            <a:r>
              <a:rPr b="1" lang="es-ES" sz="164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Vista </a:t>
            </a:r>
            <a:r>
              <a:rPr b="1" lang="es-ES" sz="164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Lógica</a:t>
            </a:r>
            <a:endParaRPr sz="164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6"/>
          <p:cNvSpPr/>
          <p:nvPr/>
        </p:nvSpPr>
        <p:spPr>
          <a:xfrm>
            <a:off x="1388425" y="2131948"/>
            <a:ext cx="3108300" cy="9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50100" lIns="100250" spcFirstLastPara="1" rIns="100250" wrap="square" tIns="5010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s-ES" sz="1200">
                <a:solidFill>
                  <a:schemeClr val="lt1"/>
                </a:solidFill>
              </a:rPr>
              <a:t>Diagrama de Clases UML.</a:t>
            </a:r>
            <a:endParaRPr b="1" sz="1200">
              <a:solidFill>
                <a:schemeClr val="lt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s-ES" sz="1200">
                <a:solidFill>
                  <a:schemeClr val="lt1"/>
                </a:solidFill>
              </a:rPr>
              <a:t>Entidades: Mesas, Pedidos y Productos.</a:t>
            </a:r>
            <a:endParaRPr b="1" sz="1200">
              <a:solidFill>
                <a:schemeClr val="lt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s-ES" sz="1200">
                <a:solidFill>
                  <a:schemeClr val="lt1"/>
                </a:solidFill>
              </a:rPr>
              <a:t>Relaciones lógicas del negocio.</a:t>
            </a:r>
            <a:endParaRPr b="1" sz="1200">
              <a:solidFill>
                <a:schemeClr val="lt1"/>
              </a:solidFill>
            </a:endParaRPr>
          </a:p>
          <a:p>
            <a:pPr indent="0" lvl="0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17" name="Google Shape;217;p36"/>
          <p:cNvSpPr/>
          <p:nvPr/>
        </p:nvSpPr>
        <p:spPr>
          <a:xfrm>
            <a:off x="7601035" y="1490682"/>
            <a:ext cx="3108300" cy="1704600"/>
          </a:xfrm>
          <a:prstGeom prst="rect">
            <a:avLst/>
          </a:prstGeom>
          <a:solidFill>
            <a:srgbClr val="D97706"/>
          </a:solidFill>
          <a:ln cap="flat" cmpd="sng" w="13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11403" rotWithShape="0" algn="bl" dir="8100000" dist="41776">
              <a:srgbClr val="000000">
                <a:alpha val="18040"/>
              </a:srgbClr>
            </a:outerShdw>
          </a:effectLst>
        </p:spPr>
        <p:txBody>
          <a:bodyPr anchorCtr="0" anchor="t" bIns="50100" lIns="100250" spcFirstLastPara="1" rIns="100250" wrap="square" tIns="50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74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6"/>
          <p:cNvSpPr/>
          <p:nvPr/>
        </p:nvSpPr>
        <p:spPr>
          <a:xfrm>
            <a:off x="7601035" y="1570893"/>
            <a:ext cx="31083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100" lIns="100250" spcFirstLastPara="1" rIns="100250" wrap="square" tIns="50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45"/>
              <a:buFont typeface="Calibri"/>
              <a:buNone/>
            </a:pPr>
            <a:r>
              <a:rPr b="1" lang="es-ES" sz="164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Vista de Desarrollo</a:t>
            </a:r>
            <a:endParaRPr sz="164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6"/>
          <p:cNvSpPr/>
          <p:nvPr/>
        </p:nvSpPr>
        <p:spPr>
          <a:xfrm>
            <a:off x="7601035" y="2292787"/>
            <a:ext cx="31083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100" lIns="100250" spcFirstLastPara="1" rIns="100250" wrap="square" tIns="50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E7FF"/>
              </a:buClr>
              <a:buSzPts val="1316"/>
              <a:buFont typeface="Calibri"/>
              <a:buNone/>
            </a:pPr>
            <a:r>
              <a:rPr b="1" lang="es-ES" sz="1100">
                <a:solidFill>
                  <a:schemeClr val="lt1"/>
                </a:solidFill>
              </a:rPr>
              <a:t>Organización del código en 3 capas: Interfaz, Lógica de Negocio y Acceso a Datos." </a:t>
            </a:r>
            <a:endParaRPr b="1" sz="1416">
              <a:solidFill>
                <a:schemeClr val="lt1"/>
              </a:solidFill>
            </a:endParaRPr>
          </a:p>
        </p:txBody>
      </p:sp>
      <p:sp>
        <p:nvSpPr>
          <p:cNvPr id="220" name="Google Shape;220;p36"/>
          <p:cNvSpPr/>
          <p:nvPr/>
        </p:nvSpPr>
        <p:spPr>
          <a:xfrm>
            <a:off x="1388425" y="3796733"/>
            <a:ext cx="3108300" cy="1704600"/>
          </a:xfrm>
          <a:prstGeom prst="rect">
            <a:avLst/>
          </a:prstGeom>
          <a:solidFill>
            <a:srgbClr val="0D9488"/>
          </a:solidFill>
          <a:ln cap="flat" cmpd="sng" w="13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11403" rotWithShape="0" algn="bl" dir="8100000" dist="41776">
              <a:srgbClr val="000000">
                <a:alpha val="18040"/>
              </a:srgbClr>
            </a:outerShdw>
          </a:effectLst>
        </p:spPr>
        <p:txBody>
          <a:bodyPr anchorCtr="0" anchor="t" bIns="50100" lIns="100250" spcFirstLastPara="1" rIns="100250" wrap="square" tIns="50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74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6"/>
          <p:cNvSpPr/>
          <p:nvPr/>
        </p:nvSpPr>
        <p:spPr>
          <a:xfrm>
            <a:off x="1388425" y="3876943"/>
            <a:ext cx="31083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100" lIns="100250" spcFirstLastPara="1" rIns="100250" wrap="square" tIns="50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45"/>
              <a:buFont typeface="Calibri"/>
              <a:buNone/>
            </a:pPr>
            <a:r>
              <a:rPr b="1" lang="es-ES" sz="164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Vista de Procesos</a:t>
            </a:r>
            <a:endParaRPr sz="164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36"/>
          <p:cNvSpPr/>
          <p:nvPr/>
        </p:nvSpPr>
        <p:spPr>
          <a:xfrm>
            <a:off x="1388425" y="4598837"/>
            <a:ext cx="31083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100" lIns="100250" spcFirstLastPara="1" rIns="100250" wrap="square" tIns="5010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s-ES" sz="1200">
                <a:solidFill>
                  <a:schemeClr val="lt1"/>
                </a:solidFill>
              </a:rPr>
              <a:t>Diagrama de Secuencia.</a:t>
            </a:r>
            <a:endParaRPr b="1" sz="1200">
              <a:solidFill>
                <a:schemeClr val="lt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s-ES" sz="1200">
                <a:solidFill>
                  <a:schemeClr val="lt1"/>
                </a:solidFill>
              </a:rPr>
              <a:t>Flujo de pedidos a cocina.</a:t>
            </a:r>
            <a:endParaRPr b="1" sz="1200">
              <a:solidFill>
                <a:schemeClr val="lt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s-ES" sz="1200">
                <a:solidFill>
                  <a:schemeClr val="lt1"/>
                </a:solidFill>
              </a:rPr>
              <a:t>Sincronización en tiempo real.</a:t>
            </a:r>
            <a:endParaRPr b="1" sz="1200">
              <a:solidFill>
                <a:schemeClr val="lt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E7FF"/>
              </a:buClr>
              <a:buSzPts val="1316"/>
              <a:buFont typeface="Calibri"/>
              <a:buNone/>
            </a:pPr>
            <a:r>
              <a:t/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23" name="Google Shape;223;p36"/>
          <p:cNvSpPr/>
          <p:nvPr/>
        </p:nvSpPr>
        <p:spPr>
          <a:xfrm>
            <a:off x="7601035" y="3804733"/>
            <a:ext cx="3108300" cy="1704600"/>
          </a:xfrm>
          <a:prstGeom prst="rect">
            <a:avLst/>
          </a:prstGeom>
          <a:solidFill>
            <a:srgbClr val="DC2626"/>
          </a:solidFill>
          <a:ln cap="flat" cmpd="sng" w="13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111403" rotWithShape="0" algn="bl" dir="8100000" dist="41776">
              <a:srgbClr val="000000">
                <a:alpha val="18040"/>
              </a:srgbClr>
            </a:outerShdw>
          </a:effectLst>
        </p:spPr>
        <p:txBody>
          <a:bodyPr anchorCtr="0" anchor="t" bIns="50100" lIns="100250" spcFirstLastPara="1" rIns="100250" wrap="square" tIns="50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74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6"/>
          <p:cNvSpPr/>
          <p:nvPr/>
        </p:nvSpPr>
        <p:spPr>
          <a:xfrm>
            <a:off x="7601035" y="3884943"/>
            <a:ext cx="31083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100" lIns="100250" spcFirstLastPara="1" rIns="100250" wrap="square" tIns="50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45"/>
              <a:buFont typeface="Calibri"/>
              <a:buNone/>
            </a:pPr>
            <a:r>
              <a:rPr b="1" lang="es-ES" sz="164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Vista </a:t>
            </a:r>
            <a:r>
              <a:rPr b="1" lang="es-ES" sz="164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Física</a:t>
            </a:r>
            <a:endParaRPr sz="1645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6"/>
          <p:cNvSpPr/>
          <p:nvPr/>
        </p:nvSpPr>
        <p:spPr>
          <a:xfrm>
            <a:off x="7601035" y="4606837"/>
            <a:ext cx="31083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100" lIns="100250" spcFirstLastPara="1" rIns="100250" wrap="square" tIns="5010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s-ES" sz="1200">
                <a:solidFill>
                  <a:schemeClr val="lt1"/>
                </a:solidFill>
              </a:rPr>
              <a:t>Red Local.</a:t>
            </a:r>
            <a:endParaRPr b="1" sz="1200">
              <a:solidFill>
                <a:schemeClr val="lt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s-ES" sz="1200">
                <a:solidFill>
                  <a:schemeClr val="lt1"/>
                </a:solidFill>
              </a:rPr>
              <a:t>Terminales Táctiles e Impresoras.</a:t>
            </a:r>
            <a:endParaRPr b="1" sz="12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7"/>
          <p:cNvSpPr txBox="1"/>
          <p:nvPr>
            <p:ph type="title"/>
          </p:nvPr>
        </p:nvSpPr>
        <p:spPr>
          <a:xfrm>
            <a:off x="1524426" y="433331"/>
            <a:ext cx="10302300" cy="447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chemeClr val="dk1"/>
                </a:solidFill>
              </a:rPr>
              <a:t>Vista </a:t>
            </a:r>
            <a:r>
              <a:rPr b="1" lang="es-ES" sz="2800">
                <a:solidFill>
                  <a:schemeClr val="dk1"/>
                </a:solidFill>
              </a:rPr>
              <a:t>lógica</a:t>
            </a:r>
            <a:r>
              <a:rPr b="1" lang="es-ES" sz="2800">
                <a:solidFill>
                  <a:schemeClr val="dk1"/>
                </a:solidFill>
              </a:rPr>
              <a:t>/proceso</a:t>
            </a:r>
            <a:endParaRPr/>
          </a:p>
        </p:txBody>
      </p:sp>
      <p:sp>
        <p:nvSpPr>
          <p:cNvPr id="231" name="Google Shape;231;p37"/>
          <p:cNvSpPr/>
          <p:nvPr/>
        </p:nvSpPr>
        <p:spPr>
          <a:xfrm>
            <a:off x="3447709" y="1813433"/>
            <a:ext cx="1824000" cy="91710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7"/>
          <p:cNvSpPr/>
          <p:nvPr/>
        </p:nvSpPr>
        <p:spPr>
          <a:xfrm>
            <a:off x="3447709" y="1813433"/>
            <a:ext cx="18240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" name="Google Shape;233;p37"/>
          <p:cNvCxnSpPr/>
          <p:nvPr/>
        </p:nvCxnSpPr>
        <p:spPr>
          <a:xfrm>
            <a:off x="3447709" y="2180309"/>
            <a:ext cx="1824000" cy="0"/>
          </a:xfrm>
          <a:prstGeom prst="straightConnector1">
            <a:avLst/>
          </a:prstGeom>
          <a:noFill/>
          <a:ln cap="flat" cmpd="sng" w="95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" name="Google Shape;234;p37"/>
          <p:cNvSpPr/>
          <p:nvPr/>
        </p:nvSpPr>
        <p:spPr>
          <a:xfrm>
            <a:off x="3514039" y="2204767"/>
            <a:ext cx="16914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800"/>
              <a:buFont typeface="Calibri"/>
              <a:buNone/>
            </a:pPr>
            <a:r>
              <a:t/>
            </a: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7"/>
          <p:cNvSpPr/>
          <p:nvPr/>
        </p:nvSpPr>
        <p:spPr>
          <a:xfrm>
            <a:off x="3447709" y="3195330"/>
            <a:ext cx="1824000" cy="91710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7"/>
          <p:cNvSpPr/>
          <p:nvPr/>
        </p:nvSpPr>
        <p:spPr>
          <a:xfrm>
            <a:off x="3447709" y="3195330"/>
            <a:ext cx="18240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" name="Google Shape;237;p37"/>
          <p:cNvCxnSpPr/>
          <p:nvPr/>
        </p:nvCxnSpPr>
        <p:spPr>
          <a:xfrm>
            <a:off x="3447709" y="3562205"/>
            <a:ext cx="1824000" cy="0"/>
          </a:xfrm>
          <a:prstGeom prst="straightConnector1">
            <a:avLst/>
          </a:prstGeom>
          <a:noFill/>
          <a:ln cap="flat" cmpd="sng" w="95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8" name="Google Shape;238;p37"/>
          <p:cNvSpPr/>
          <p:nvPr/>
        </p:nvSpPr>
        <p:spPr>
          <a:xfrm>
            <a:off x="3553039" y="3586651"/>
            <a:ext cx="16914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800"/>
              <a:buFont typeface="Calibri"/>
              <a:buNone/>
            </a:pPr>
            <a:r>
              <a:t/>
            </a: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7"/>
          <p:cNvSpPr/>
          <p:nvPr/>
        </p:nvSpPr>
        <p:spPr>
          <a:xfrm>
            <a:off x="2309040" y="4601684"/>
            <a:ext cx="1824000" cy="917100"/>
          </a:xfrm>
          <a:prstGeom prst="rect">
            <a:avLst/>
          </a:prstGeom>
          <a:solidFill>
            <a:srgbClr val="EDE9F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37"/>
          <p:cNvSpPr/>
          <p:nvPr/>
        </p:nvSpPr>
        <p:spPr>
          <a:xfrm>
            <a:off x="2309040" y="4601684"/>
            <a:ext cx="18240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" name="Google Shape;241;p37"/>
          <p:cNvCxnSpPr/>
          <p:nvPr/>
        </p:nvCxnSpPr>
        <p:spPr>
          <a:xfrm>
            <a:off x="2309040" y="4968559"/>
            <a:ext cx="1824000" cy="0"/>
          </a:xfrm>
          <a:prstGeom prst="straightConnector1">
            <a:avLst/>
          </a:prstGeom>
          <a:noFill/>
          <a:ln cap="flat" cmpd="sng" w="95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" name="Google Shape;242;p37"/>
          <p:cNvSpPr/>
          <p:nvPr/>
        </p:nvSpPr>
        <p:spPr>
          <a:xfrm>
            <a:off x="2375370" y="4993018"/>
            <a:ext cx="16914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1D95"/>
              </a:buClr>
              <a:buSzPts val="800"/>
              <a:buFont typeface="Calibri"/>
              <a:buNone/>
            </a:pPr>
            <a:r>
              <a:t/>
            </a:r>
            <a:endParaRPr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37"/>
          <p:cNvPicPr preferRelativeResize="0"/>
          <p:nvPr/>
        </p:nvPicPr>
        <p:blipFill rotWithShape="1">
          <a:blip r:embed="rId3">
            <a:alphaModFix/>
          </a:blip>
          <a:srcRect b="0" l="0" r="6314" t="8900"/>
          <a:stretch/>
        </p:blipFill>
        <p:spPr>
          <a:xfrm>
            <a:off x="614175" y="1311975"/>
            <a:ext cx="5143475" cy="454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7"/>
          <p:cNvPicPr preferRelativeResize="0"/>
          <p:nvPr/>
        </p:nvPicPr>
        <p:blipFill rotWithShape="1">
          <a:blip r:embed="rId4">
            <a:alphaModFix/>
          </a:blip>
          <a:srcRect b="0" l="50853" r="4738" t="18666"/>
          <a:stretch/>
        </p:blipFill>
        <p:spPr>
          <a:xfrm>
            <a:off x="6413725" y="1341825"/>
            <a:ext cx="4691651" cy="444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8"/>
          <p:cNvSpPr txBox="1"/>
          <p:nvPr>
            <p:ph type="title"/>
          </p:nvPr>
        </p:nvSpPr>
        <p:spPr>
          <a:xfrm>
            <a:off x="1487276" y="507556"/>
            <a:ext cx="10302300" cy="447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fisic</a:t>
            </a:r>
            <a:endParaRPr/>
          </a:p>
        </p:txBody>
      </p:sp>
      <p:sp>
        <p:nvSpPr>
          <p:cNvPr id="250" name="Google Shape;250;p38"/>
          <p:cNvSpPr txBox="1"/>
          <p:nvPr/>
        </p:nvSpPr>
        <p:spPr>
          <a:xfrm>
            <a:off x="1547375" y="507550"/>
            <a:ext cx="4173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Vista desarrollo/fisica</a:t>
            </a:r>
            <a:endParaRPr sz="2183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251" name="Google Shape;251;p38"/>
          <p:cNvPicPr preferRelativeResize="0"/>
          <p:nvPr/>
        </p:nvPicPr>
        <p:blipFill rotWithShape="1">
          <a:blip r:embed="rId3">
            <a:alphaModFix/>
          </a:blip>
          <a:srcRect b="10283" l="53730" r="3546" t="15417"/>
          <a:stretch/>
        </p:blipFill>
        <p:spPr>
          <a:xfrm>
            <a:off x="1746825" y="1389200"/>
            <a:ext cx="3614674" cy="4159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8"/>
          <p:cNvPicPr preferRelativeResize="0"/>
          <p:nvPr/>
        </p:nvPicPr>
        <p:blipFill rotWithShape="1">
          <a:blip r:embed="rId4">
            <a:alphaModFix/>
          </a:blip>
          <a:srcRect b="2158" l="52512" r="0" t="11531"/>
          <a:stretch/>
        </p:blipFill>
        <p:spPr>
          <a:xfrm>
            <a:off x="6488000" y="1389200"/>
            <a:ext cx="4530724" cy="3961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9"/>
          <p:cNvSpPr txBox="1"/>
          <p:nvPr>
            <p:ph idx="1" type="body"/>
          </p:nvPr>
        </p:nvSpPr>
        <p:spPr>
          <a:xfrm>
            <a:off x="107048" y="466434"/>
            <a:ext cx="10183800" cy="447900"/>
          </a:xfrm>
          <a:prstGeom prst="rect">
            <a:avLst/>
          </a:prstGeom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683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Garzón</a:t>
            </a:r>
            <a:r>
              <a:rPr lang="es-ES" sz="2683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Cocinero</a:t>
            </a:r>
            <a:r>
              <a:rPr lang="es-ES" sz="2683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endParaRPr sz="2683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58" name="Google Shape;258;p39"/>
          <p:cNvSpPr/>
          <p:nvPr/>
        </p:nvSpPr>
        <p:spPr>
          <a:xfrm>
            <a:off x="405475" y="1315100"/>
            <a:ext cx="3931800" cy="379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9"/>
          <p:cNvSpPr/>
          <p:nvPr/>
        </p:nvSpPr>
        <p:spPr>
          <a:xfrm>
            <a:off x="405475" y="1315100"/>
            <a:ext cx="3931800" cy="3840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39"/>
          <p:cNvSpPr/>
          <p:nvPr/>
        </p:nvSpPr>
        <p:spPr>
          <a:xfrm>
            <a:off x="362325" y="1369975"/>
            <a:ext cx="393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s-E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Escenario: "Garzón hace un pedido"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9"/>
          <p:cNvSpPr/>
          <p:nvPr/>
        </p:nvSpPr>
        <p:spPr>
          <a:xfrm>
            <a:off x="4674235" y="1826089"/>
            <a:ext cx="274200" cy="2742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9"/>
          <p:cNvSpPr/>
          <p:nvPr/>
        </p:nvSpPr>
        <p:spPr>
          <a:xfrm>
            <a:off x="4674235" y="1826089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s-E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9"/>
          <p:cNvSpPr/>
          <p:nvPr/>
        </p:nvSpPr>
        <p:spPr>
          <a:xfrm>
            <a:off x="908396" y="1845451"/>
            <a:ext cx="3291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lang="es-E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Garzón ingresa su PIN de seguridad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4" name="Google Shape;264;p39"/>
          <p:cNvCxnSpPr/>
          <p:nvPr/>
        </p:nvCxnSpPr>
        <p:spPr>
          <a:xfrm>
            <a:off x="4811395" y="2100409"/>
            <a:ext cx="0" cy="118800"/>
          </a:xfrm>
          <a:prstGeom prst="straightConnector1">
            <a:avLst/>
          </a:prstGeom>
          <a:noFill/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p39"/>
          <p:cNvSpPr/>
          <p:nvPr/>
        </p:nvSpPr>
        <p:spPr>
          <a:xfrm>
            <a:off x="4674235" y="2274144"/>
            <a:ext cx="274200" cy="2742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9"/>
          <p:cNvSpPr/>
          <p:nvPr/>
        </p:nvSpPr>
        <p:spPr>
          <a:xfrm>
            <a:off x="4674235" y="2274144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s-E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9"/>
          <p:cNvSpPr/>
          <p:nvPr/>
        </p:nvSpPr>
        <p:spPr>
          <a:xfrm>
            <a:off x="908396" y="2293505"/>
            <a:ext cx="3291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lang="es-E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Sistema valida credenciales y muestra salón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" name="Google Shape;268;p39"/>
          <p:cNvCxnSpPr/>
          <p:nvPr/>
        </p:nvCxnSpPr>
        <p:spPr>
          <a:xfrm>
            <a:off x="4811395" y="2548464"/>
            <a:ext cx="0" cy="118800"/>
          </a:xfrm>
          <a:prstGeom prst="straightConnector1">
            <a:avLst/>
          </a:prstGeom>
          <a:noFill/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" name="Google Shape;269;p39"/>
          <p:cNvSpPr/>
          <p:nvPr/>
        </p:nvSpPr>
        <p:spPr>
          <a:xfrm>
            <a:off x="4674235" y="2722199"/>
            <a:ext cx="274200" cy="2742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9"/>
          <p:cNvSpPr/>
          <p:nvPr/>
        </p:nvSpPr>
        <p:spPr>
          <a:xfrm>
            <a:off x="4674235" y="2722199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s-E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9"/>
          <p:cNvSpPr/>
          <p:nvPr/>
        </p:nvSpPr>
        <p:spPr>
          <a:xfrm>
            <a:off x="908396" y="2741560"/>
            <a:ext cx="3291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lang="es-E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Garzón selecciona mesa e inicia comanda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2" name="Google Shape;272;p39"/>
          <p:cNvCxnSpPr/>
          <p:nvPr/>
        </p:nvCxnSpPr>
        <p:spPr>
          <a:xfrm>
            <a:off x="4811395" y="2996518"/>
            <a:ext cx="0" cy="118800"/>
          </a:xfrm>
          <a:prstGeom prst="straightConnector1">
            <a:avLst/>
          </a:prstGeom>
          <a:noFill/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3" name="Google Shape;273;p39"/>
          <p:cNvSpPr/>
          <p:nvPr/>
        </p:nvSpPr>
        <p:spPr>
          <a:xfrm>
            <a:off x="4674235" y="3170254"/>
            <a:ext cx="274200" cy="2742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9"/>
          <p:cNvSpPr/>
          <p:nvPr/>
        </p:nvSpPr>
        <p:spPr>
          <a:xfrm>
            <a:off x="4674235" y="3170254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s-E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9"/>
          <p:cNvSpPr/>
          <p:nvPr/>
        </p:nvSpPr>
        <p:spPr>
          <a:xfrm>
            <a:off x="908396" y="3189615"/>
            <a:ext cx="3291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lang="es-E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Garzón selecciona productos y personaliza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6" name="Google Shape;276;p39"/>
          <p:cNvCxnSpPr/>
          <p:nvPr/>
        </p:nvCxnSpPr>
        <p:spPr>
          <a:xfrm>
            <a:off x="4811395" y="3444573"/>
            <a:ext cx="0" cy="118800"/>
          </a:xfrm>
          <a:prstGeom prst="straightConnector1">
            <a:avLst/>
          </a:prstGeom>
          <a:noFill/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7" name="Google Shape;277;p39"/>
          <p:cNvSpPr/>
          <p:nvPr/>
        </p:nvSpPr>
        <p:spPr>
          <a:xfrm>
            <a:off x="4674235" y="3618309"/>
            <a:ext cx="274200" cy="2742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9"/>
          <p:cNvSpPr/>
          <p:nvPr/>
        </p:nvSpPr>
        <p:spPr>
          <a:xfrm>
            <a:off x="4674235" y="3618309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s-E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9"/>
          <p:cNvSpPr/>
          <p:nvPr/>
        </p:nvSpPr>
        <p:spPr>
          <a:xfrm>
            <a:off x="908396" y="3637670"/>
            <a:ext cx="3291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lang="es-E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Sistema valida disponibilidad de insumos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0" name="Google Shape;280;p39"/>
          <p:cNvCxnSpPr/>
          <p:nvPr/>
        </p:nvCxnSpPr>
        <p:spPr>
          <a:xfrm>
            <a:off x="4811395" y="3892628"/>
            <a:ext cx="0" cy="118800"/>
          </a:xfrm>
          <a:prstGeom prst="straightConnector1">
            <a:avLst/>
          </a:prstGeom>
          <a:noFill/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1" name="Google Shape;281;p39"/>
          <p:cNvSpPr/>
          <p:nvPr/>
        </p:nvSpPr>
        <p:spPr>
          <a:xfrm>
            <a:off x="4674235" y="4066364"/>
            <a:ext cx="274200" cy="2742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9"/>
          <p:cNvSpPr/>
          <p:nvPr/>
        </p:nvSpPr>
        <p:spPr>
          <a:xfrm>
            <a:off x="4674235" y="4066364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s-E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9"/>
          <p:cNvSpPr/>
          <p:nvPr/>
        </p:nvSpPr>
        <p:spPr>
          <a:xfrm>
            <a:off x="908396" y="4085725"/>
            <a:ext cx="3291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lang="es-E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Garzón confirma y envía orden a cocina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" name="Google Shape;284;p39"/>
          <p:cNvCxnSpPr/>
          <p:nvPr/>
        </p:nvCxnSpPr>
        <p:spPr>
          <a:xfrm>
            <a:off x="4811395" y="4340683"/>
            <a:ext cx="0" cy="118800"/>
          </a:xfrm>
          <a:prstGeom prst="straightConnector1">
            <a:avLst/>
          </a:prstGeom>
          <a:noFill/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p39"/>
          <p:cNvSpPr/>
          <p:nvPr/>
        </p:nvSpPr>
        <p:spPr>
          <a:xfrm>
            <a:off x="4674235" y="4514418"/>
            <a:ext cx="274200" cy="2742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9"/>
          <p:cNvSpPr/>
          <p:nvPr/>
        </p:nvSpPr>
        <p:spPr>
          <a:xfrm>
            <a:off x="4674235" y="4514418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s-E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9"/>
          <p:cNvSpPr/>
          <p:nvPr/>
        </p:nvSpPr>
        <p:spPr>
          <a:xfrm>
            <a:off x="908396" y="4533780"/>
            <a:ext cx="3291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lang="es-E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Sistema registra la transacción y actualiza mesa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39"/>
          <p:cNvSpPr/>
          <p:nvPr/>
        </p:nvSpPr>
        <p:spPr>
          <a:xfrm>
            <a:off x="6968725" y="1315100"/>
            <a:ext cx="3931800" cy="379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9"/>
          <p:cNvSpPr/>
          <p:nvPr/>
        </p:nvSpPr>
        <p:spPr>
          <a:xfrm>
            <a:off x="6968725" y="1315100"/>
            <a:ext cx="3931800" cy="3840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9"/>
          <p:cNvSpPr/>
          <p:nvPr/>
        </p:nvSpPr>
        <p:spPr>
          <a:xfrm>
            <a:off x="6925575" y="1369975"/>
            <a:ext cx="3931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s-E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Escenario: </a:t>
            </a:r>
            <a:r>
              <a:rPr b="1" lang="es-ES" sz="1100">
                <a:solidFill>
                  <a:srgbClr val="FFFFFF"/>
                </a:solidFill>
              </a:rPr>
              <a:t>"Cocinero gestiona comandas"</a:t>
            </a:r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9"/>
          <p:cNvSpPr/>
          <p:nvPr/>
        </p:nvSpPr>
        <p:spPr>
          <a:xfrm>
            <a:off x="11205660" y="1909502"/>
            <a:ext cx="274200" cy="2742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9"/>
          <p:cNvSpPr/>
          <p:nvPr/>
        </p:nvSpPr>
        <p:spPr>
          <a:xfrm>
            <a:off x="11205660" y="1909502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s-E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9"/>
          <p:cNvSpPr/>
          <p:nvPr/>
        </p:nvSpPr>
        <p:spPr>
          <a:xfrm>
            <a:off x="7471646" y="1845451"/>
            <a:ext cx="3291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lang="es-E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Sistema recibe la comanda desde salón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" name="Google Shape;294;p39"/>
          <p:cNvCxnSpPr/>
          <p:nvPr/>
        </p:nvCxnSpPr>
        <p:spPr>
          <a:xfrm>
            <a:off x="11342820" y="2183821"/>
            <a:ext cx="0" cy="118800"/>
          </a:xfrm>
          <a:prstGeom prst="straightConnector1">
            <a:avLst/>
          </a:prstGeom>
          <a:noFill/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39"/>
          <p:cNvSpPr/>
          <p:nvPr/>
        </p:nvSpPr>
        <p:spPr>
          <a:xfrm>
            <a:off x="11205660" y="2357557"/>
            <a:ext cx="274200" cy="2742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9"/>
          <p:cNvSpPr/>
          <p:nvPr/>
        </p:nvSpPr>
        <p:spPr>
          <a:xfrm>
            <a:off x="11205660" y="2357557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s-E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9"/>
          <p:cNvSpPr/>
          <p:nvPr/>
        </p:nvSpPr>
        <p:spPr>
          <a:xfrm>
            <a:off x="7471646" y="2293505"/>
            <a:ext cx="3291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lang="es-E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Sistema valida credenciales y muestra salón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8" name="Google Shape;298;p39"/>
          <p:cNvCxnSpPr/>
          <p:nvPr/>
        </p:nvCxnSpPr>
        <p:spPr>
          <a:xfrm>
            <a:off x="11342820" y="2631876"/>
            <a:ext cx="0" cy="118800"/>
          </a:xfrm>
          <a:prstGeom prst="straightConnector1">
            <a:avLst/>
          </a:prstGeom>
          <a:noFill/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" name="Google Shape;299;p39"/>
          <p:cNvSpPr/>
          <p:nvPr/>
        </p:nvSpPr>
        <p:spPr>
          <a:xfrm>
            <a:off x="11205660" y="2805612"/>
            <a:ext cx="274200" cy="2742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9"/>
          <p:cNvSpPr/>
          <p:nvPr/>
        </p:nvSpPr>
        <p:spPr>
          <a:xfrm>
            <a:off x="11205660" y="2805612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s-E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9"/>
          <p:cNvSpPr/>
          <p:nvPr/>
        </p:nvSpPr>
        <p:spPr>
          <a:xfrm>
            <a:off x="7471646" y="2741560"/>
            <a:ext cx="3291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lang="es-ES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Sistema muestra la comanda en pantalla.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2" name="Google Shape;302;p39"/>
          <p:cNvCxnSpPr/>
          <p:nvPr/>
        </p:nvCxnSpPr>
        <p:spPr>
          <a:xfrm>
            <a:off x="11342820" y="3079931"/>
            <a:ext cx="0" cy="118800"/>
          </a:xfrm>
          <a:prstGeom prst="straightConnector1">
            <a:avLst/>
          </a:prstGeom>
          <a:noFill/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3" name="Google Shape;303;p39"/>
          <p:cNvSpPr/>
          <p:nvPr/>
        </p:nvSpPr>
        <p:spPr>
          <a:xfrm>
            <a:off x="11205660" y="3253666"/>
            <a:ext cx="274200" cy="2742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9"/>
          <p:cNvSpPr/>
          <p:nvPr/>
        </p:nvSpPr>
        <p:spPr>
          <a:xfrm>
            <a:off x="11205660" y="3253666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s-E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9"/>
          <p:cNvSpPr/>
          <p:nvPr/>
        </p:nvSpPr>
        <p:spPr>
          <a:xfrm>
            <a:off x="7471646" y="3189615"/>
            <a:ext cx="3291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1100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Cocinero lee la pantalla y prepara los platos solicitados.</a:t>
            </a:r>
            <a:endParaRPr sz="1100">
              <a:solidFill>
                <a:srgbClr val="4454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6" name="Google Shape;306;p39"/>
          <p:cNvCxnSpPr/>
          <p:nvPr/>
        </p:nvCxnSpPr>
        <p:spPr>
          <a:xfrm>
            <a:off x="11342820" y="3527986"/>
            <a:ext cx="0" cy="118800"/>
          </a:xfrm>
          <a:prstGeom prst="straightConnector1">
            <a:avLst/>
          </a:prstGeom>
          <a:noFill/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7" name="Google Shape;307;p39"/>
          <p:cNvSpPr/>
          <p:nvPr/>
        </p:nvSpPr>
        <p:spPr>
          <a:xfrm>
            <a:off x="11205660" y="3701721"/>
            <a:ext cx="274200" cy="2742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9"/>
          <p:cNvSpPr/>
          <p:nvPr/>
        </p:nvSpPr>
        <p:spPr>
          <a:xfrm>
            <a:off x="11205660" y="3701721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s-E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9"/>
          <p:cNvSpPr/>
          <p:nvPr/>
        </p:nvSpPr>
        <p:spPr>
          <a:xfrm>
            <a:off x="7471646" y="3637670"/>
            <a:ext cx="3291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1100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Sistema cambia el color de la alerta si el tiempo avanza.</a:t>
            </a:r>
            <a:endParaRPr sz="1100">
              <a:solidFill>
                <a:srgbClr val="4454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0" name="Google Shape;310;p39"/>
          <p:cNvCxnSpPr/>
          <p:nvPr/>
        </p:nvCxnSpPr>
        <p:spPr>
          <a:xfrm>
            <a:off x="11342820" y="3976041"/>
            <a:ext cx="0" cy="118800"/>
          </a:xfrm>
          <a:prstGeom prst="straightConnector1">
            <a:avLst/>
          </a:prstGeom>
          <a:noFill/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1" name="Google Shape;311;p39"/>
          <p:cNvSpPr/>
          <p:nvPr/>
        </p:nvSpPr>
        <p:spPr>
          <a:xfrm>
            <a:off x="11205660" y="4149776"/>
            <a:ext cx="274200" cy="2742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9"/>
          <p:cNvSpPr/>
          <p:nvPr/>
        </p:nvSpPr>
        <p:spPr>
          <a:xfrm>
            <a:off x="11205660" y="4149776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s-E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9"/>
          <p:cNvSpPr/>
          <p:nvPr/>
        </p:nvSpPr>
        <p:spPr>
          <a:xfrm>
            <a:off x="7471646" y="4085725"/>
            <a:ext cx="3291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1100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Cocinero termina y deja los platos listos en el mesón.</a:t>
            </a:r>
            <a:endParaRPr sz="1100">
              <a:solidFill>
                <a:srgbClr val="4454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4" name="Google Shape;314;p39"/>
          <p:cNvCxnSpPr/>
          <p:nvPr/>
        </p:nvCxnSpPr>
        <p:spPr>
          <a:xfrm>
            <a:off x="11342820" y="4424095"/>
            <a:ext cx="0" cy="118800"/>
          </a:xfrm>
          <a:prstGeom prst="straightConnector1">
            <a:avLst/>
          </a:prstGeom>
          <a:noFill/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" name="Google Shape;315;p39"/>
          <p:cNvSpPr/>
          <p:nvPr/>
        </p:nvSpPr>
        <p:spPr>
          <a:xfrm>
            <a:off x="11205660" y="4597831"/>
            <a:ext cx="274200" cy="2742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9"/>
          <p:cNvSpPr/>
          <p:nvPr/>
        </p:nvSpPr>
        <p:spPr>
          <a:xfrm>
            <a:off x="11205660" y="4597831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s-E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9"/>
          <p:cNvSpPr/>
          <p:nvPr/>
        </p:nvSpPr>
        <p:spPr>
          <a:xfrm>
            <a:off x="7471646" y="4533780"/>
            <a:ext cx="3291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ES" sz="1100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Sistema elimina la comanda cuando el Garzón marca la entrega.</a:t>
            </a:r>
            <a:endParaRPr sz="1100">
              <a:solidFill>
                <a:srgbClr val="4454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0"/>
          <p:cNvSpPr txBox="1"/>
          <p:nvPr>
            <p:ph idx="1" type="body"/>
          </p:nvPr>
        </p:nvSpPr>
        <p:spPr>
          <a:xfrm>
            <a:off x="428648" y="458109"/>
            <a:ext cx="10183800" cy="447900"/>
          </a:xfrm>
          <a:prstGeom prst="rect">
            <a:avLst/>
          </a:prstGeom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683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Administrador</a:t>
            </a:r>
            <a:endParaRPr/>
          </a:p>
        </p:txBody>
      </p:sp>
      <p:sp>
        <p:nvSpPr>
          <p:cNvPr id="323" name="Google Shape;323;p40"/>
          <p:cNvSpPr/>
          <p:nvPr/>
        </p:nvSpPr>
        <p:spPr>
          <a:xfrm>
            <a:off x="3753243" y="1203775"/>
            <a:ext cx="5049600" cy="4873500"/>
          </a:xfrm>
          <a:prstGeom prst="rect">
            <a:avLst/>
          </a:prstGeom>
          <a:solidFill>
            <a:srgbClr val="FFFFFF"/>
          </a:solidFill>
          <a:ln cap="flat" cmpd="sng" w="163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130485" rotWithShape="0" algn="bl" dir="8100000" dist="48932">
              <a:srgbClr val="000000">
                <a:alpha val="18040"/>
              </a:srgbClr>
            </a:outerShdw>
          </a:effectLst>
        </p:spPr>
        <p:txBody>
          <a:bodyPr anchorCtr="0" anchor="t" bIns="58700" lIns="117425" spcFirstLastPara="1" rIns="117425" wrap="square" tIns="58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1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40"/>
          <p:cNvSpPr/>
          <p:nvPr/>
        </p:nvSpPr>
        <p:spPr>
          <a:xfrm>
            <a:off x="3753243" y="1203775"/>
            <a:ext cx="5049600" cy="493200"/>
          </a:xfrm>
          <a:prstGeom prst="rect">
            <a:avLst/>
          </a:prstGeom>
          <a:solidFill>
            <a:srgbClr val="2563EB"/>
          </a:solidFill>
          <a:ln cap="flat" cmpd="sng" w="163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8700" lIns="117425" spcFirstLastPara="1" rIns="117425" wrap="square" tIns="58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1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40"/>
          <p:cNvSpPr/>
          <p:nvPr/>
        </p:nvSpPr>
        <p:spPr>
          <a:xfrm>
            <a:off x="3697825" y="1274251"/>
            <a:ext cx="50496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700" lIns="117425" spcFirstLastPara="1" rIns="117425" wrap="square" tIns="58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41"/>
              <a:buFont typeface="Calibri"/>
              <a:buNone/>
            </a:pPr>
            <a:r>
              <a:rPr b="1" lang="es-ES" sz="154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Escenario:</a:t>
            </a:r>
            <a:r>
              <a:rPr b="1" lang="es-ES" sz="167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s-ES" sz="154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Escenario: "Administrador gestiona local"</a:t>
            </a:r>
            <a:endParaRPr b="1" sz="167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40"/>
          <p:cNvSpPr/>
          <p:nvPr/>
        </p:nvSpPr>
        <p:spPr>
          <a:xfrm>
            <a:off x="3929397" y="1955365"/>
            <a:ext cx="352200" cy="352200"/>
          </a:xfrm>
          <a:prstGeom prst="ellipse">
            <a:avLst/>
          </a:prstGeom>
          <a:solidFill>
            <a:srgbClr val="2563EB"/>
          </a:solidFill>
          <a:ln cap="flat" cmpd="sng" w="163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8700" lIns="117425" spcFirstLastPara="1" rIns="117425" wrap="square" tIns="58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1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40"/>
          <p:cNvSpPr/>
          <p:nvPr/>
        </p:nvSpPr>
        <p:spPr>
          <a:xfrm>
            <a:off x="3929397" y="1955365"/>
            <a:ext cx="3522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700" lIns="117425" spcFirstLastPara="1" rIns="117425" wrap="square" tIns="58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6"/>
              <a:buFont typeface="Calibri"/>
              <a:buNone/>
            </a:pPr>
            <a:r>
              <a:rPr b="1" lang="es-ES" sz="1156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5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40"/>
          <p:cNvSpPr/>
          <p:nvPr/>
        </p:nvSpPr>
        <p:spPr>
          <a:xfrm>
            <a:off x="4399143" y="1884903"/>
            <a:ext cx="42279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700" lIns="117425" spcFirstLastPara="1" rIns="117425" wrap="square" tIns="58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13"/>
              <a:buFont typeface="Calibri"/>
              <a:buNone/>
            </a:pPr>
            <a:r>
              <a:rPr lang="es-ES" sz="1413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Administrador ingresa al sistema con su PIN.</a:t>
            </a:r>
            <a:endParaRPr sz="1413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9" name="Google Shape;329;p40"/>
          <p:cNvCxnSpPr/>
          <p:nvPr/>
        </p:nvCxnSpPr>
        <p:spPr>
          <a:xfrm>
            <a:off x="4105552" y="2307672"/>
            <a:ext cx="0" cy="152700"/>
          </a:xfrm>
          <a:prstGeom prst="straightConnector1">
            <a:avLst/>
          </a:prstGeom>
          <a:noFill/>
          <a:ln cap="flat" cmpd="sng" w="163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0" name="Google Shape;330;p40"/>
          <p:cNvSpPr/>
          <p:nvPr/>
        </p:nvSpPr>
        <p:spPr>
          <a:xfrm>
            <a:off x="3929397" y="2530800"/>
            <a:ext cx="352200" cy="352200"/>
          </a:xfrm>
          <a:prstGeom prst="ellipse">
            <a:avLst/>
          </a:prstGeom>
          <a:solidFill>
            <a:srgbClr val="2563EB"/>
          </a:solidFill>
          <a:ln cap="flat" cmpd="sng" w="163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8700" lIns="117425" spcFirstLastPara="1" rIns="117425" wrap="square" tIns="58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1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40"/>
          <p:cNvSpPr/>
          <p:nvPr/>
        </p:nvSpPr>
        <p:spPr>
          <a:xfrm>
            <a:off x="3929397" y="2530800"/>
            <a:ext cx="3522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700" lIns="117425" spcFirstLastPara="1" rIns="117425" wrap="square" tIns="58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6"/>
              <a:buFont typeface="Calibri"/>
              <a:buNone/>
            </a:pPr>
            <a:r>
              <a:rPr b="1" lang="es-ES" sz="1156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5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40"/>
          <p:cNvSpPr/>
          <p:nvPr/>
        </p:nvSpPr>
        <p:spPr>
          <a:xfrm>
            <a:off x="4399143" y="2460339"/>
            <a:ext cx="42279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700" lIns="117425" spcFirstLastPara="1" rIns="117425" wrap="square" tIns="58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13"/>
              <a:buFont typeface="Calibri"/>
              <a:buNone/>
            </a:pPr>
            <a:r>
              <a:rPr lang="es-ES" sz="1413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Administrador actualiza los precios del menú.</a:t>
            </a:r>
            <a:endParaRPr sz="1413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3" name="Google Shape;333;p40"/>
          <p:cNvCxnSpPr/>
          <p:nvPr/>
        </p:nvCxnSpPr>
        <p:spPr>
          <a:xfrm>
            <a:off x="4105552" y="2883108"/>
            <a:ext cx="0" cy="152700"/>
          </a:xfrm>
          <a:prstGeom prst="straightConnector1">
            <a:avLst/>
          </a:prstGeom>
          <a:noFill/>
          <a:ln cap="flat" cmpd="sng" w="163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4" name="Google Shape;334;p40"/>
          <p:cNvSpPr/>
          <p:nvPr/>
        </p:nvSpPr>
        <p:spPr>
          <a:xfrm>
            <a:off x="3929397" y="3106236"/>
            <a:ext cx="352200" cy="352200"/>
          </a:xfrm>
          <a:prstGeom prst="ellipse">
            <a:avLst/>
          </a:prstGeom>
          <a:solidFill>
            <a:srgbClr val="2563EB"/>
          </a:solidFill>
          <a:ln cap="flat" cmpd="sng" w="163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8700" lIns="117425" spcFirstLastPara="1" rIns="117425" wrap="square" tIns="58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1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40"/>
          <p:cNvSpPr/>
          <p:nvPr/>
        </p:nvSpPr>
        <p:spPr>
          <a:xfrm>
            <a:off x="3929397" y="3106236"/>
            <a:ext cx="3522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700" lIns="117425" spcFirstLastPara="1" rIns="117425" wrap="square" tIns="58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6"/>
              <a:buFont typeface="Calibri"/>
              <a:buNone/>
            </a:pPr>
            <a:r>
              <a:rPr b="1" lang="es-ES" sz="1156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5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40"/>
          <p:cNvSpPr/>
          <p:nvPr/>
        </p:nvSpPr>
        <p:spPr>
          <a:xfrm>
            <a:off x="4399143" y="3035775"/>
            <a:ext cx="42279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700" lIns="117425" spcFirstLastPara="1" rIns="117425" wrap="square" tIns="58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13"/>
              <a:buFont typeface="Calibri"/>
              <a:buNone/>
            </a:pPr>
            <a:r>
              <a:rPr lang="es-ES" sz="1413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Administrador desactiva productos sin stock.</a:t>
            </a:r>
            <a:endParaRPr sz="1413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7" name="Google Shape;337;p40"/>
          <p:cNvCxnSpPr/>
          <p:nvPr/>
        </p:nvCxnSpPr>
        <p:spPr>
          <a:xfrm>
            <a:off x="4105552" y="3458544"/>
            <a:ext cx="0" cy="152700"/>
          </a:xfrm>
          <a:prstGeom prst="straightConnector1">
            <a:avLst/>
          </a:prstGeom>
          <a:noFill/>
          <a:ln cap="flat" cmpd="sng" w="163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8" name="Google Shape;338;p40"/>
          <p:cNvSpPr/>
          <p:nvPr/>
        </p:nvSpPr>
        <p:spPr>
          <a:xfrm>
            <a:off x="3929397" y="3681672"/>
            <a:ext cx="352200" cy="352200"/>
          </a:xfrm>
          <a:prstGeom prst="ellipse">
            <a:avLst/>
          </a:prstGeom>
          <a:solidFill>
            <a:srgbClr val="2563EB"/>
          </a:solidFill>
          <a:ln cap="flat" cmpd="sng" w="163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8700" lIns="117425" spcFirstLastPara="1" rIns="117425" wrap="square" tIns="58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1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40"/>
          <p:cNvSpPr/>
          <p:nvPr/>
        </p:nvSpPr>
        <p:spPr>
          <a:xfrm>
            <a:off x="3929397" y="3681672"/>
            <a:ext cx="3522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700" lIns="117425" spcFirstLastPara="1" rIns="117425" wrap="square" tIns="58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6"/>
              <a:buFont typeface="Calibri"/>
              <a:buNone/>
            </a:pPr>
            <a:r>
              <a:rPr b="1" lang="es-ES" sz="1156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5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40"/>
          <p:cNvSpPr/>
          <p:nvPr/>
        </p:nvSpPr>
        <p:spPr>
          <a:xfrm>
            <a:off x="4399143" y="3611211"/>
            <a:ext cx="42279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700" lIns="117425" spcFirstLastPara="1" rIns="117425" wrap="square" tIns="58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3082"/>
              </a:spcAft>
              <a:buClr>
                <a:srgbClr val="000000"/>
              </a:buClr>
              <a:buSzPts val="1413"/>
              <a:buFont typeface="Arial"/>
              <a:buNone/>
            </a:pPr>
            <a:r>
              <a:rPr lang="es-ES" sz="1413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Administrador gestiona y crea PINS para el personal.</a:t>
            </a:r>
            <a:endParaRPr sz="1413">
              <a:solidFill>
                <a:srgbClr val="4454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" name="Google Shape;341;p40"/>
          <p:cNvCxnSpPr/>
          <p:nvPr/>
        </p:nvCxnSpPr>
        <p:spPr>
          <a:xfrm>
            <a:off x="4105552" y="4033980"/>
            <a:ext cx="0" cy="152700"/>
          </a:xfrm>
          <a:prstGeom prst="straightConnector1">
            <a:avLst/>
          </a:prstGeom>
          <a:noFill/>
          <a:ln cap="flat" cmpd="sng" w="163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2" name="Google Shape;342;p40"/>
          <p:cNvSpPr/>
          <p:nvPr/>
        </p:nvSpPr>
        <p:spPr>
          <a:xfrm>
            <a:off x="3929397" y="4257108"/>
            <a:ext cx="352200" cy="352200"/>
          </a:xfrm>
          <a:prstGeom prst="ellipse">
            <a:avLst/>
          </a:prstGeom>
          <a:solidFill>
            <a:srgbClr val="2563EB"/>
          </a:solidFill>
          <a:ln cap="flat" cmpd="sng" w="163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8700" lIns="117425" spcFirstLastPara="1" rIns="117425" wrap="square" tIns="58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1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40"/>
          <p:cNvSpPr/>
          <p:nvPr/>
        </p:nvSpPr>
        <p:spPr>
          <a:xfrm>
            <a:off x="3929397" y="4257108"/>
            <a:ext cx="3522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700" lIns="117425" spcFirstLastPara="1" rIns="117425" wrap="square" tIns="58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6"/>
              <a:buFont typeface="Calibri"/>
              <a:buNone/>
            </a:pPr>
            <a:r>
              <a:rPr b="1" lang="es-ES" sz="1156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15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40"/>
          <p:cNvSpPr/>
          <p:nvPr/>
        </p:nvSpPr>
        <p:spPr>
          <a:xfrm>
            <a:off x="4399143" y="4186646"/>
            <a:ext cx="42279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700" lIns="117425" spcFirstLastPara="1" rIns="117425" wrap="square" tIns="58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3082"/>
              </a:spcAft>
              <a:buClr>
                <a:srgbClr val="000000"/>
              </a:buClr>
              <a:buSzPts val="1413"/>
              <a:buFont typeface="Arial"/>
              <a:buNone/>
            </a:pPr>
            <a:r>
              <a:rPr lang="es-ES" sz="1413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Administrador organiza el plano de mesas del local.</a:t>
            </a:r>
            <a:endParaRPr sz="1413">
              <a:solidFill>
                <a:srgbClr val="4454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5" name="Google Shape;345;p40"/>
          <p:cNvCxnSpPr/>
          <p:nvPr/>
        </p:nvCxnSpPr>
        <p:spPr>
          <a:xfrm>
            <a:off x="4105552" y="4609416"/>
            <a:ext cx="0" cy="152700"/>
          </a:xfrm>
          <a:prstGeom prst="straightConnector1">
            <a:avLst/>
          </a:prstGeom>
          <a:noFill/>
          <a:ln cap="flat" cmpd="sng" w="163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6" name="Google Shape;346;p40"/>
          <p:cNvSpPr/>
          <p:nvPr/>
        </p:nvSpPr>
        <p:spPr>
          <a:xfrm>
            <a:off x="3929397" y="4832544"/>
            <a:ext cx="352200" cy="352200"/>
          </a:xfrm>
          <a:prstGeom prst="ellipse">
            <a:avLst/>
          </a:prstGeom>
          <a:solidFill>
            <a:srgbClr val="2563EB"/>
          </a:solidFill>
          <a:ln cap="flat" cmpd="sng" w="163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8700" lIns="117425" spcFirstLastPara="1" rIns="117425" wrap="square" tIns="58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1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40"/>
          <p:cNvSpPr/>
          <p:nvPr/>
        </p:nvSpPr>
        <p:spPr>
          <a:xfrm>
            <a:off x="3929397" y="4832544"/>
            <a:ext cx="3522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700" lIns="117425" spcFirstLastPara="1" rIns="117425" wrap="square" tIns="58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6"/>
              <a:buFont typeface="Calibri"/>
              <a:buNone/>
            </a:pPr>
            <a:r>
              <a:rPr b="1" lang="es-ES" sz="1156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15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40"/>
          <p:cNvSpPr/>
          <p:nvPr/>
        </p:nvSpPr>
        <p:spPr>
          <a:xfrm>
            <a:off x="4399143" y="4762082"/>
            <a:ext cx="42279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700" lIns="117425" spcFirstLastPara="1" rIns="117425" wrap="square" tIns="58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3082"/>
              </a:spcAft>
              <a:buClr>
                <a:srgbClr val="000000"/>
              </a:buClr>
              <a:buSzPts val="1413"/>
              <a:buFont typeface="Arial"/>
              <a:buNone/>
            </a:pPr>
            <a:r>
              <a:rPr lang="es-ES" sz="1413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Administrador solicita registro de total de ventas.</a:t>
            </a:r>
            <a:endParaRPr sz="1413">
              <a:solidFill>
                <a:srgbClr val="4454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9" name="Google Shape;349;p40"/>
          <p:cNvCxnSpPr/>
          <p:nvPr/>
        </p:nvCxnSpPr>
        <p:spPr>
          <a:xfrm>
            <a:off x="4105552" y="5184851"/>
            <a:ext cx="0" cy="152700"/>
          </a:xfrm>
          <a:prstGeom prst="straightConnector1">
            <a:avLst/>
          </a:prstGeom>
          <a:noFill/>
          <a:ln cap="flat" cmpd="sng" w="163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0" name="Google Shape;350;p40"/>
          <p:cNvSpPr/>
          <p:nvPr/>
        </p:nvSpPr>
        <p:spPr>
          <a:xfrm>
            <a:off x="3929397" y="5407980"/>
            <a:ext cx="352200" cy="352200"/>
          </a:xfrm>
          <a:prstGeom prst="ellipse">
            <a:avLst/>
          </a:prstGeom>
          <a:solidFill>
            <a:srgbClr val="2563EB"/>
          </a:solidFill>
          <a:ln cap="flat" cmpd="sng" w="163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58700" lIns="117425" spcFirstLastPara="1" rIns="117425" wrap="square" tIns="58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1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40"/>
          <p:cNvSpPr/>
          <p:nvPr/>
        </p:nvSpPr>
        <p:spPr>
          <a:xfrm>
            <a:off x="3929397" y="5407980"/>
            <a:ext cx="3522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700" lIns="117425" spcFirstLastPara="1" rIns="117425" wrap="square" tIns="58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6"/>
              <a:buFont typeface="Calibri"/>
              <a:buNone/>
            </a:pPr>
            <a:r>
              <a:rPr b="1" lang="es-ES" sz="1156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156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40"/>
          <p:cNvSpPr/>
          <p:nvPr/>
        </p:nvSpPr>
        <p:spPr>
          <a:xfrm>
            <a:off x="4399143" y="5337518"/>
            <a:ext cx="42279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700" lIns="117425" spcFirstLastPara="1" rIns="117425" wrap="square" tIns="58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3082"/>
              </a:spcAft>
              <a:buClr>
                <a:srgbClr val="000000"/>
              </a:buClr>
              <a:buSzPts val="1413"/>
              <a:buFont typeface="Arial"/>
              <a:buNone/>
            </a:pPr>
            <a:r>
              <a:rPr lang="es-ES" sz="1413">
                <a:solidFill>
                  <a:srgbClr val="44546A"/>
                </a:solidFill>
                <a:latin typeface="Calibri"/>
                <a:ea typeface="Calibri"/>
                <a:cs typeface="Calibri"/>
                <a:sym typeface="Calibri"/>
              </a:rPr>
              <a:t>Sistema muestra reporte de ventas.</a:t>
            </a:r>
            <a:endParaRPr sz="1413">
              <a:solidFill>
                <a:srgbClr val="4454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1"/>
          <p:cNvSpPr txBox="1"/>
          <p:nvPr>
            <p:ph type="title"/>
          </p:nvPr>
        </p:nvSpPr>
        <p:spPr>
          <a:xfrm>
            <a:off x="1474901" y="433331"/>
            <a:ext cx="10302300" cy="447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58" name="Google Shape;358;p41"/>
          <p:cNvGraphicFramePr/>
          <p:nvPr/>
        </p:nvGraphicFramePr>
        <p:xfrm>
          <a:off x="758950" y="143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{BB506387-6F23-40D0-9961-09DF0A3B9F55}</a:tableStyleId>
              </a:tblPr>
              <a:tblGrid>
                <a:gridCol w="1735950"/>
                <a:gridCol w="2135500"/>
                <a:gridCol w="6957550"/>
              </a:tblGrid>
              <a:tr h="82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Vista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Audiencia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Contenido para Garzón Pro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683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LÓGICA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1F1F1F"/>
                          </a:solidFill>
                        </a:rPr>
                        <a:t>Analistas / Usuarios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Clases:</a:t>
                      </a:r>
                      <a:r>
                        <a:rPr lang="es-ES" sz="1100">
                          <a:solidFill>
                            <a:srgbClr val="1F1F1F"/>
                          </a:solidFill>
                        </a:rPr>
                        <a:t> Usuario, Mesa, Platos, Pedidos, Ventas.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3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PROCESOS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1F1F1F"/>
                          </a:solidFill>
                        </a:rPr>
                        <a:t>Integradores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Flujo:</a:t>
                      </a:r>
                      <a:r>
                        <a:rPr lang="es-ES" sz="1100">
                          <a:solidFill>
                            <a:srgbClr val="1F1F1F"/>
                          </a:solidFill>
                        </a:rPr>
                        <a:t> Login -&gt; Selección Mesa -&gt; Toma Pedido -&gt; Procesar Pago.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3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DESARROLLO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1F1F1F"/>
                          </a:solidFill>
                        </a:rPr>
                        <a:t>Desarrolladores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Capas:</a:t>
                      </a:r>
                      <a:r>
                        <a:rPr lang="es-ES" sz="1100">
                          <a:solidFill>
                            <a:srgbClr val="1F1F1F"/>
                          </a:solidFill>
                        </a:rPr>
                        <a:t> UI Terminales -&gt; Lógica Negocio -&gt; Servicios </a:t>
                      </a:r>
                      <a:r>
                        <a:rPr lang="es-ES" sz="1100">
                          <a:solidFill>
                            <a:srgbClr val="1F1F1F"/>
                          </a:solidFill>
                        </a:rPr>
                        <a:t>-&gt;</a:t>
                      </a:r>
                      <a:r>
                        <a:rPr lang="es-ES" sz="1100">
                          <a:solidFill>
                            <a:srgbClr val="1F1F1F"/>
                          </a:solidFill>
                        </a:rPr>
                        <a:t> Acceso Datos -&gt; BD Local.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3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FÍSICA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1F1F1F"/>
                          </a:solidFill>
                        </a:rPr>
                        <a:t>Ing. Sistemas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Nodos:</a:t>
                      </a:r>
                      <a:r>
                        <a:rPr lang="es-ES" sz="1100">
                          <a:solidFill>
                            <a:srgbClr val="1F1F1F"/>
                          </a:solidFill>
                        </a:rPr>
                        <a:t> Servidor Central -&gt; Terminales Fijas, Impresora, Caja, BD.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56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ESCENARIOS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1F1F1F"/>
                          </a:solidFill>
                        </a:rPr>
                        <a:t>Todos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100">
                          <a:solidFill>
                            <a:srgbClr val="1F1F1F"/>
                          </a:solidFill>
                        </a:rPr>
                        <a:t>Caso de Uso:</a:t>
                      </a:r>
                      <a:r>
                        <a:rPr lang="es-ES" sz="1100">
                          <a:solidFill>
                            <a:srgbClr val="1F1F1F"/>
                          </a:solidFill>
                        </a:rPr>
                        <a:t> </a:t>
                      </a:r>
                      <a:r>
                        <a:rPr b="1" lang="es-ES" sz="1100">
                          <a:solidFill>
                            <a:schemeClr val="dk1"/>
                          </a:solidFill>
                        </a:rPr>
                        <a:t>Garzón hace un pedido</a:t>
                      </a:r>
                      <a:r>
                        <a:rPr lang="es-ES" sz="1100">
                          <a:solidFill>
                            <a:srgbClr val="1F1F1F"/>
                          </a:solidFill>
                        </a:rPr>
                        <a:t>, </a:t>
                      </a:r>
                      <a:r>
                        <a:rPr b="1" lang="es-ES" sz="1100">
                          <a:solidFill>
                            <a:schemeClr val="dk1"/>
                          </a:solidFill>
                        </a:rPr>
                        <a:t>cocinero gestiona comandas  </a:t>
                      </a:r>
                      <a:r>
                        <a:rPr lang="es-ES" sz="1100">
                          <a:solidFill>
                            <a:srgbClr val="1F1F1F"/>
                          </a:solidFill>
                        </a:rPr>
                        <a:t>y </a:t>
                      </a:r>
                      <a:r>
                        <a:rPr lang="es-ES" sz="11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Administrador gestiona local</a:t>
                      </a:r>
                      <a:r>
                        <a:rPr lang="es-ES" sz="1100">
                          <a:solidFill>
                            <a:srgbClr val="1F1F1F"/>
                          </a:solidFill>
                        </a:rPr>
                        <a:t>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9" name="Google Shape;359;p41"/>
          <p:cNvSpPr txBox="1"/>
          <p:nvPr/>
        </p:nvSpPr>
        <p:spPr>
          <a:xfrm>
            <a:off x="1596900" y="557050"/>
            <a:ext cx="30000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</a:pPr>
            <a:r>
              <a:rPr b="1" lang="es-ES" sz="265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Ejemplo Completo</a:t>
            </a:r>
            <a:endParaRPr sz="265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2"/>
          <p:cNvSpPr txBox="1"/>
          <p:nvPr>
            <p:ph idx="4294967295" type="title"/>
          </p:nvPr>
        </p:nvSpPr>
        <p:spPr>
          <a:xfrm>
            <a:off x="3691890" y="482918"/>
            <a:ext cx="42258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s-ES">
                <a:solidFill>
                  <a:schemeClr val="dk1"/>
                </a:solidFill>
              </a:rPr>
              <a:t>Preguntas , Conclusiones y reflexiones</a:t>
            </a:r>
            <a:endParaRPr/>
          </a:p>
        </p:txBody>
      </p:sp>
      <p:pic>
        <p:nvPicPr>
          <p:cNvPr descr="http://www.clipartroo.com/images/33/group-talking-clipart-33811.png" id="365" name="Google Shape;36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7998" y="1467168"/>
            <a:ext cx="6306311" cy="4221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DUOC 2">
      <a:dk1>
        <a:srgbClr val="172740"/>
      </a:dk1>
      <a:lt1>
        <a:srgbClr val="FFFFFF"/>
      </a:lt1>
      <a:dk2>
        <a:srgbClr val="81888F"/>
      </a:dk2>
      <a:lt2>
        <a:srgbClr val="FBC842"/>
      </a:lt2>
      <a:accent1>
        <a:srgbClr val="DE3075"/>
      </a:accent1>
      <a:accent2>
        <a:srgbClr val="702785"/>
      </a:accent2>
      <a:accent3>
        <a:srgbClr val="BDD503"/>
      </a:accent3>
      <a:accent4>
        <a:srgbClr val="00A0DE"/>
      </a:accent4>
      <a:accent5>
        <a:srgbClr val="FA742C"/>
      </a:accent5>
      <a:accent6>
        <a:srgbClr val="AE0F0F"/>
      </a:accent6>
      <a:hlink>
        <a:srgbClr val="723714"/>
      </a:hlink>
      <a:folHlink>
        <a:srgbClr val="6B79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