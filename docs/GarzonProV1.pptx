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  <p:sldMasterId id="214748369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Franklin Gothic"/>
      <p:bold r:id="rId22"/>
    </p:embeddedFont>
    <p:embeddedFont>
      <p:font typeface="Bebas Neue"/>
      <p:regular r:id="rId23"/>
    </p:embeddedFont>
    <p:embeddedFont>
      <p:font typeface="Roboto Condensed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889615-6D05-494A-9FC2-2C6D2621FA5C}">
  <a:tblStyle styleId="{B2889615-6D05-494A-9FC2-2C6D2621FA5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FranklinGothic-bold.fntdata"/><Relationship Id="rId21" Type="http://schemas.openxmlformats.org/officeDocument/2006/relationships/slide" Target="slides/slide15.xml"/><Relationship Id="rId24" Type="http://schemas.openxmlformats.org/officeDocument/2006/relationships/font" Target="fonts/RobotoCondensed-regular.fntdata"/><Relationship Id="rId23" Type="http://schemas.openxmlformats.org/officeDocument/2006/relationships/font" Target="fonts/BebasNeue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Condensed-italic.fntdata"/><Relationship Id="rId25" Type="http://schemas.openxmlformats.org/officeDocument/2006/relationships/font" Target="fonts/RobotoCondensed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RobotoCondense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df7e3bd25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df7e3bd2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df7e3bd25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g3ddf7e3bd25_0_3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df7e3bd25_0_4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ddf7e3bd25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df7e3bd25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g3ddf7e3bd25_0_4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df7e3bd25_0_4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ddf7e3bd25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df7e3bd25_0_5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ddf7e3bd25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7" name="Google Shape;45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4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Relationship Id="rId3" Type="http://schemas.openxmlformats.org/officeDocument/2006/relationships/image" Target="../media/image1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4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jp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1" cy="685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1721213" y="5276020"/>
            <a:ext cx="4112779" cy="239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728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721214" y="5828916"/>
            <a:ext cx="5283748" cy="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 sz="10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1721214" y="5739387"/>
            <a:ext cx="5361631" cy="0"/>
          </a:xfrm>
          <a:custGeom>
            <a:rect b="b" l="l" r="r" t="t"/>
            <a:pathLst>
              <a:path extrusionOk="0" h="120000"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Diseño personalizado">
  <p:cSld name="5_Diseño personalizad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2026"/>
            <a:ext cx="12195607" cy="68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504470" y="4353155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Diseño personalizado">
  <p:cSld name="6_Diseño personalizad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1" cy="685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1" y="0"/>
            <a:ext cx="121879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4386194" y="4778652"/>
            <a:ext cx="5999201" cy="1386232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646223" y="4977021"/>
            <a:ext cx="547013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8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/>
          <p:nvPr/>
        </p:nvSpPr>
        <p:spPr>
          <a:xfrm>
            <a:off x="-3851" y="397869"/>
            <a:ext cx="1360528" cy="643058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10272195" y="6186691"/>
            <a:ext cx="955797" cy="309977"/>
          </a:xfrm>
          <a:custGeom>
            <a:rect b="b" l="l" r="r" t="t"/>
            <a:pathLst>
              <a:path extrusionOk="0" h="511175" w="1576069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69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69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69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11294124" y="6212763"/>
            <a:ext cx="229515" cy="284948"/>
          </a:xfrm>
          <a:custGeom>
            <a:rect b="b" l="l" r="r" t="t"/>
            <a:pathLst>
              <a:path extrusionOk="0" h="469900" w="378459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5"/>
          <p:cNvGrpSpPr/>
          <p:nvPr/>
        </p:nvGrpSpPr>
        <p:grpSpPr>
          <a:xfrm>
            <a:off x="11555126" y="6135384"/>
            <a:ext cx="258961" cy="362375"/>
            <a:chOff x="19053919" y="10117702"/>
            <a:chExt cx="427015" cy="597582"/>
          </a:xfrm>
        </p:grpSpPr>
        <p:sp>
          <p:nvSpPr>
            <p:cNvPr id="28" name="Google Shape;28;p5"/>
            <p:cNvSpPr/>
            <p:nvPr/>
          </p:nvSpPr>
          <p:spPr>
            <a:xfrm>
              <a:off x="19053919" y="10237764"/>
              <a:ext cx="366395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7"/>
                <a:buFont typeface="Arial"/>
                <a:buNone/>
              </a:pPr>
              <a:r>
                <a:t/>
              </a:r>
              <a:endParaRPr b="0" i="0" sz="6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" name="Google Shape;29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441023" y="6186691"/>
            <a:ext cx="955797" cy="309977"/>
          </a:xfrm>
          <a:custGeom>
            <a:rect b="b" l="l" r="r" t="t"/>
            <a:pathLst>
              <a:path extrusionOk="0" h="511175" w="157607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70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70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7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1462952" y="6212763"/>
            <a:ext cx="229515" cy="284948"/>
          </a:xfrm>
          <a:custGeom>
            <a:rect b="b" l="l" r="r" t="t"/>
            <a:pathLst>
              <a:path extrusionOk="0" h="469900" w="37846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6"/>
          <p:cNvGrpSpPr/>
          <p:nvPr/>
        </p:nvGrpSpPr>
        <p:grpSpPr>
          <a:xfrm>
            <a:off x="1723954" y="6135384"/>
            <a:ext cx="258961" cy="362375"/>
            <a:chOff x="2842727" y="10117702"/>
            <a:chExt cx="427015" cy="597582"/>
          </a:xfrm>
        </p:grpSpPr>
        <p:sp>
          <p:nvSpPr>
            <p:cNvPr id="34" name="Google Shape;34;p6"/>
            <p:cNvSpPr/>
            <p:nvPr/>
          </p:nvSpPr>
          <p:spPr>
            <a:xfrm>
              <a:off x="2842727" y="10237764"/>
              <a:ext cx="366395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7"/>
                <a:buFont typeface="Arial"/>
                <a:buNone/>
              </a:pPr>
              <a:r>
                <a:t/>
              </a:r>
              <a:endParaRPr b="0" i="0" sz="6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" name="Google Shape;35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6"/>
          <p:cNvSpPr/>
          <p:nvPr/>
        </p:nvSpPr>
        <p:spPr>
          <a:xfrm>
            <a:off x="10819315" y="397869"/>
            <a:ext cx="1360528" cy="643058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41023" y="458109"/>
            <a:ext cx="10183655" cy="447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 b="1" sz="2183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seño personalizado">
  <p:cSld name="4_Diseño personalizado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1" cy="685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42"/>
            <a:ext cx="121879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/>
          <p:nvPr/>
        </p:nvSpPr>
        <p:spPr>
          <a:xfrm>
            <a:off x="2676388" y="2551053"/>
            <a:ext cx="5999201" cy="1386232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2936416" y="2749423"/>
            <a:ext cx="547013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chemeClr val="dk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4828848" y="2987430"/>
            <a:ext cx="65264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TITLE_4_1_1">
    <p:bg>
      <p:bgPr>
        <a:solidFill>
          <a:schemeClr val="dk2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03076" y="186298"/>
            <a:ext cx="5082864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p9"/>
          <p:cNvGrpSpPr/>
          <p:nvPr/>
        </p:nvGrpSpPr>
        <p:grpSpPr>
          <a:xfrm>
            <a:off x="1" y="-124"/>
            <a:ext cx="6471553" cy="5740374"/>
            <a:chOff x="0" y="-126"/>
            <a:chExt cx="4554438" cy="5386482"/>
          </a:xfrm>
        </p:grpSpPr>
        <p:sp>
          <p:nvSpPr>
            <p:cNvPr id="48" name="Google Shape;48;p9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na caricatura de una ciudad&#10;&#10;Descripción generada automáticamente" id="49" name="Google Shape;49;p9"/>
            <p:cNvPicPr preferRelativeResize="0"/>
            <p:nvPr/>
          </p:nvPicPr>
          <p:blipFill rotWithShape="1">
            <a:blip r:embed="rId3">
              <a:alphaModFix/>
            </a:blip>
            <a:srcRect b="0" l="9870" r="6482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50" name="Google Shape;50;p9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DE3075">
              <a:alpha val="6352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2">
  <p:cSld name="TITLE_4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10"/>
          <p:cNvGrpSpPr/>
          <p:nvPr/>
        </p:nvGrpSpPr>
        <p:grpSpPr>
          <a:xfrm>
            <a:off x="1" y="-124"/>
            <a:ext cx="6471553" cy="5740374"/>
            <a:chOff x="0" y="-126"/>
            <a:chExt cx="4554438" cy="5386482"/>
          </a:xfrm>
        </p:grpSpPr>
        <p:sp>
          <p:nvSpPr>
            <p:cNvPr id="53" name="Google Shape;53;p10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n que contiene persona, foto, hombre, mujer&#10;&#10;Descripción generada automáticamente" id="54" name="Google Shape;54;p10"/>
            <p:cNvPicPr preferRelativeResize="0"/>
            <p:nvPr/>
          </p:nvPicPr>
          <p:blipFill rotWithShape="1">
            <a:blip r:embed="rId2">
              <a:alphaModFix/>
            </a:blip>
            <a:srcRect b="0" l="0" r="16351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55" name="Google Shape;55;p10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898B90">
              <a:alpha val="6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  <p:pic>
        <p:nvPicPr>
          <p:cNvPr id="56" name="Google Shape;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3076" y="186298"/>
            <a:ext cx="5082864" cy="601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3">
  <p:cSld name="TITLE_1_1">
    <p:bg>
      <p:bgPr>
        <a:solidFill>
          <a:schemeClr val="accent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/>
          <p:nvPr/>
        </p:nvSpPr>
        <p:spPr>
          <a:xfrm flipH="1" rot="10800000">
            <a:off x="1" y="3086"/>
            <a:ext cx="6467841" cy="573708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03076" y="186298"/>
            <a:ext cx="5082864" cy="601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60" name="Google Shape;60;p11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2" y="10"/>
            <a:ext cx="6281423" cy="5589566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1" name="Google Shape;61;p11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898B90">
              <a:alpha val="6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4" name="Google Shape;64;p12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2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67" name="Google Shape;6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69" name="Google Shape;69;p12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">
  <p:cSld name="OBJECT 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75" name="Google Shape;75;p13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6" name="Google Shape;76;p13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OBJECT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rgbClr val="702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83" name="Google Shape;83;p14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4" name="Google Shape;84;p14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chemeClr val="dk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747184" y="2634922"/>
            <a:ext cx="10697633" cy="227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pic>
        <p:nvPicPr>
          <p:cNvPr id="88" name="Google Shape;8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92751"/>
            <a:ext cx="3678716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>
            <p:ph idx="2" type="body"/>
          </p:nvPr>
        </p:nvSpPr>
        <p:spPr>
          <a:xfrm>
            <a:off x="747184" y="1632286"/>
            <a:ext cx="10697633" cy="6657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90" name="Google Shape;90;p15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chemeClr val="dk2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3" name="Google Shape;93;p15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9" name="Google Shape;99;p16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6">
  <p:cSld name="Título y objetos 6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lt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08" name="Google Shape;108;p18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seño personalizado">
  <p:cSld name="3_Diseño personalizado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41" y="0"/>
            <a:ext cx="121879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>
            <p:ph type="title"/>
          </p:nvPr>
        </p:nvSpPr>
        <p:spPr>
          <a:xfrm>
            <a:off x="4016505" y="4260740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41" y="0"/>
            <a:ext cx="121879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>
            <p:ph type="title"/>
          </p:nvPr>
        </p:nvSpPr>
        <p:spPr>
          <a:xfrm>
            <a:off x="2907441" y="4214532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2907441" y="4214532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42"/>
            <a:ext cx="1218792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2907441" y="4214532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22" name="Google Shape;12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41" y="0"/>
            <a:ext cx="1218792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Diseño personalizado">
  <p:cSld name="8_Diseño personalizado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431" cy="685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/>
          <p:nvPr/>
        </p:nvSpPr>
        <p:spPr>
          <a:xfrm>
            <a:off x="293939" y="1601757"/>
            <a:ext cx="5999201" cy="1386232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3"/>
          <p:cNvSpPr txBox="1"/>
          <p:nvPr>
            <p:ph type="title"/>
          </p:nvPr>
        </p:nvSpPr>
        <p:spPr>
          <a:xfrm>
            <a:off x="558472" y="1828283"/>
            <a:ext cx="547013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/>
        </p:nvSpPr>
        <p:spPr>
          <a:xfrm>
            <a:off x="3900641" y="3874990"/>
            <a:ext cx="7653405" cy="2568339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1" cy="685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67"/>
            <a:ext cx="12195179" cy="685573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4"/>
          <p:cNvSpPr/>
          <p:nvPr/>
        </p:nvSpPr>
        <p:spPr>
          <a:xfrm>
            <a:off x="458260" y="3798662"/>
            <a:ext cx="5999201" cy="1386232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4"/>
          <p:cNvSpPr txBox="1"/>
          <p:nvPr>
            <p:ph type="title"/>
          </p:nvPr>
        </p:nvSpPr>
        <p:spPr>
          <a:xfrm>
            <a:off x="718288" y="3997032"/>
            <a:ext cx="547013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2" cy="685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6"/>
          <p:cNvSpPr txBox="1"/>
          <p:nvPr>
            <p:ph type="ctrTitle"/>
          </p:nvPr>
        </p:nvSpPr>
        <p:spPr>
          <a:xfrm>
            <a:off x="1721213" y="5276020"/>
            <a:ext cx="41127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728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idx="1" type="subTitle"/>
          </p:nvPr>
        </p:nvSpPr>
        <p:spPr>
          <a:xfrm>
            <a:off x="1721214" y="5828916"/>
            <a:ext cx="52836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 sz="10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141" name="Google Shape;141;p26"/>
          <p:cNvSpPr/>
          <p:nvPr/>
        </p:nvSpPr>
        <p:spPr>
          <a:xfrm>
            <a:off x="1721214" y="5739387"/>
            <a:ext cx="5370971" cy="0"/>
          </a:xfrm>
          <a:custGeom>
            <a:rect b="b" l="l" r="r" t="t"/>
            <a:pathLst>
              <a:path extrusionOk="0" h="120000"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Diseño personalizado">
  <p:cSld name="5_Diseño personalizado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2026"/>
            <a:ext cx="12195608" cy="68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7"/>
          <p:cNvSpPr txBox="1"/>
          <p:nvPr>
            <p:ph type="title"/>
          </p:nvPr>
        </p:nvSpPr>
        <p:spPr>
          <a:xfrm>
            <a:off x="504470" y="4353155"/>
            <a:ext cx="59322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Diseño personalizado">
  <p:cSld name="6_Diseño personalizado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2" cy="685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1" y="0"/>
            <a:ext cx="1218791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8"/>
          <p:cNvSpPr/>
          <p:nvPr/>
        </p:nvSpPr>
        <p:spPr>
          <a:xfrm>
            <a:off x="4386194" y="4778652"/>
            <a:ext cx="5999100" cy="1386300"/>
          </a:xfrm>
          <a:prstGeom prst="rect">
            <a:avLst/>
          </a:prstGeom>
          <a:solidFill>
            <a:schemeClr val="dk1">
              <a:alpha val="5843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8"/>
          <p:cNvSpPr txBox="1"/>
          <p:nvPr>
            <p:ph type="title"/>
          </p:nvPr>
        </p:nvSpPr>
        <p:spPr>
          <a:xfrm>
            <a:off x="4646223" y="4977021"/>
            <a:ext cx="54702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1474901" y="433331"/>
            <a:ext cx="103023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8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2" name="Google Shape;152;p29"/>
          <p:cNvSpPr/>
          <p:nvPr/>
        </p:nvSpPr>
        <p:spPr>
          <a:xfrm>
            <a:off x="-3851" y="397869"/>
            <a:ext cx="1362899" cy="644223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9"/>
          <p:cNvSpPr/>
          <p:nvPr/>
        </p:nvSpPr>
        <p:spPr>
          <a:xfrm>
            <a:off x="10272195" y="6186691"/>
            <a:ext cx="957462" cy="310539"/>
          </a:xfrm>
          <a:custGeom>
            <a:rect b="b" l="l" r="r" t="t"/>
            <a:pathLst>
              <a:path extrusionOk="0" h="511175" w="1576069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69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69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69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9"/>
          <p:cNvSpPr/>
          <p:nvPr/>
        </p:nvSpPr>
        <p:spPr>
          <a:xfrm>
            <a:off x="11294124" y="6212763"/>
            <a:ext cx="229914" cy="285464"/>
          </a:xfrm>
          <a:custGeom>
            <a:rect b="b" l="l" r="r" t="t"/>
            <a:pathLst>
              <a:path extrusionOk="0" h="469900" w="378459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155;p29"/>
          <p:cNvGrpSpPr/>
          <p:nvPr/>
        </p:nvGrpSpPr>
        <p:grpSpPr>
          <a:xfrm>
            <a:off x="11554274" y="6135362"/>
            <a:ext cx="258942" cy="362374"/>
            <a:chOff x="19053919" y="10117702"/>
            <a:chExt cx="427015" cy="597582"/>
          </a:xfrm>
        </p:grpSpPr>
        <p:sp>
          <p:nvSpPr>
            <p:cNvPr id="156" name="Google Shape;156;p29"/>
            <p:cNvSpPr/>
            <p:nvPr/>
          </p:nvSpPr>
          <p:spPr>
            <a:xfrm>
              <a:off x="19053919" y="10237764"/>
              <a:ext cx="366394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7"/>
                <a:buFont typeface="Arial"/>
                <a:buNone/>
              </a:pPr>
              <a:r>
                <a:t/>
              </a:r>
              <a:endParaRPr b="0" i="0" sz="6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7" name="Google Shape;157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/>
          <p:nvPr/>
        </p:nvSpPr>
        <p:spPr>
          <a:xfrm>
            <a:off x="441023" y="6186691"/>
            <a:ext cx="957463" cy="310539"/>
          </a:xfrm>
          <a:custGeom>
            <a:rect b="b" l="l" r="r" t="t"/>
            <a:pathLst>
              <a:path extrusionOk="0" h="511175" w="157607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70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70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7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0"/>
          <p:cNvSpPr/>
          <p:nvPr/>
        </p:nvSpPr>
        <p:spPr>
          <a:xfrm>
            <a:off x="1462952" y="6212763"/>
            <a:ext cx="229914" cy="285464"/>
          </a:xfrm>
          <a:custGeom>
            <a:rect b="b" l="l" r="r" t="t"/>
            <a:pathLst>
              <a:path extrusionOk="0" h="469900" w="37846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30"/>
          <p:cNvGrpSpPr/>
          <p:nvPr/>
        </p:nvGrpSpPr>
        <p:grpSpPr>
          <a:xfrm>
            <a:off x="1723827" y="6135362"/>
            <a:ext cx="258942" cy="362374"/>
            <a:chOff x="2842727" y="10117702"/>
            <a:chExt cx="427015" cy="597582"/>
          </a:xfrm>
        </p:grpSpPr>
        <p:sp>
          <p:nvSpPr>
            <p:cNvPr id="162" name="Google Shape;162;p30"/>
            <p:cNvSpPr/>
            <p:nvPr/>
          </p:nvSpPr>
          <p:spPr>
            <a:xfrm>
              <a:off x="2842727" y="10237764"/>
              <a:ext cx="366394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7"/>
                <a:buFont typeface="Arial"/>
                <a:buNone/>
              </a:pPr>
              <a:r>
                <a:t/>
              </a:r>
              <a:endParaRPr b="0" i="0" sz="6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3" name="Google Shape;163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4" name="Google Shape;164;p30"/>
          <p:cNvSpPr/>
          <p:nvPr/>
        </p:nvSpPr>
        <p:spPr>
          <a:xfrm>
            <a:off x="10819315" y="397869"/>
            <a:ext cx="1362899" cy="644223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441023" y="458109"/>
            <a:ext cx="10183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 b="1" sz="2183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seño personalizado">
  <p:cSld name="4_Diseño personalizado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2" cy="685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42"/>
            <a:ext cx="1218791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1"/>
          <p:cNvSpPr/>
          <p:nvPr/>
        </p:nvSpPr>
        <p:spPr>
          <a:xfrm>
            <a:off x="2676388" y="2551053"/>
            <a:ext cx="5999100" cy="1386300"/>
          </a:xfrm>
          <a:prstGeom prst="rect">
            <a:avLst/>
          </a:prstGeom>
          <a:solidFill>
            <a:schemeClr val="dk1">
              <a:alpha val="5843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1"/>
          <p:cNvSpPr txBox="1"/>
          <p:nvPr>
            <p:ph type="title"/>
          </p:nvPr>
        </p:nvSpPr>
        <p:spPr>
          <a:xfrm>
            <a:off x="2936416" y="2749423"/>
            <a:ext cx="54702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chemeClr val="dk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4828848" y="2987430"/>
            <a:ext cx="65265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TITLE_4_1_1">
    <p:bg>
      <p:bgPr>
        <a:solidFill>
          <a:schemeClr val="dk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03076" y="186298"/>
            <a:ext cx="5082863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33"/>
          <p:cNvGrpSpPr/>
          <p:nvPr/>
        </p:nvGrpSpPr>
        <p:grpSpPr>
          <a:xfrm>
            <a:off x="1" y="-124"/>
            <a:ext cx="6471402" cy="5740374"/>
            <a:chOff x="0" y="-126"/>
            <a:chExt cx="4554438" cy="5386482"/>
          </a:xfrm>
        </p:grpSpPr>
        <p:sp>
          <p:nvSpPr>
            <p:cNvPr id="176" name="Google Shape;176;p33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na caricatura de una ciudad&#10;&#10;Descripción generada automáticamente" id="177" name="Google Shape;177;p33"/>
            <p:cNvPicPr preferRelativeResize="0"/>
            <p:nvPr/>
          </p:nvPicPr>
          <p:blipFill rotWithShape="1">
            <a:blip r:embed="rId3">
              <a:alphaModFix/>
            </a:blip>
            <a:srcRect b="0" l="9870" r="6483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178" name="Google Shape;178;p33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DE3075">
              <a:alpha val="6353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2">
  <p:cSld name="TITLE_4">
    <p:bg>
      <p:bgPr>
        <a:solidFill>
          <a:schemeClr val="accen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34"/>
          <p:cNvGrpSpPr/>
          <p:nvPr/>
        </p:nvGrpSpPr>
        <p:grpSpPr>
          <a:xfrm>
            <a:off x="1" y="-124"/>
            <a:ext cx="6471402" cy="5740374"/>
            <a:chOff x="0" y="-126"/>
            <a:chExt cx="4554438" cy="5386482"/>
          </a:xfrm>
        </p:grpSpPr>
        <p:sp>
          <p:nvSpPr>
            <p:cNvPr id="181" name="Google Shape;181;p34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n que contiene persona, foto, hombre, mujer&#10;&#10;Descripción generada automáticamente" id="182" name="Google Shape;182;p34"/>
            <p:cNvPicPr preferRelativeResize="0"/>
            <p:nvPr/>
          </p:nvPicPr>
          <p:blipFill rotWithShape="1">
            <a:blip r:embed="rId2">
              <a:alphaModFix/>
            </a:blip>
            <a:srcRect b="0" l="0" r="16353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183" name="Google Shape;183;p34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898B90">
              <a:alpha val="6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  <p:pic>
        <p:nvPicPr>
          <p:cNvPr id="184" name="Google Shape;1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3076" y="186298"/>
            <a:ext cx="5082863" cy="601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3">
  <p:cSld name="TITLE_1_1">
    <p:bg>
      <p:bgPr>
        <a:solidFill>
          <a:schemeClr val="accen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/>
          <p:nvPr/>
        </p:nvSpPr>
        <p:spPr>
          <a:xfrm flipH="1" rot="10800000">
            <a:off x="1" y="3086"/>
            <a:ext cx="6467842" cy="573708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03076" y="186298"/>
            <a:ext cx="5082863" cy="601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188" name="Google Shape;188;p35"/>
          <p:cNvPicPr preferRelativeResize="0"/>
          <p:nvPr/>
        </p:nvPicPr>
        <p:blipFill rotWithShape="1">
          <a:blip r:embed="rId3">
            <a:alphaModFix/>
          </a:blip>
          <a:srcRect b="0" l="9870" r="6483" t="0"/>
          <a:stretch/>
        </p:blipFill>
        <p:spPr>
          <a:xfrm>
            <a:off x="2" y="10"/>
            <a:ext cx="6281423" cy="5589566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89" name="Google Shape;189;p35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898B90">
              <a:alpha val="678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/>
          <p:nvPr/>
        </p:nvSpPr>
        <p:spPr>
          <a:xfrm>
            <a:off x="1830633" y="212725"/>
            <a:ext cx="6408600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6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6"/>
          <p:cNvSpPr txBox="1"/>
          <p:nvPr>
            <p:ph type="title"/>
          </p:nvPr>
        </p:nvSpPr>
        <p:spPr>
          <a:xfrm>
            <a:off x="2351599" y="212725"/>
            <a:ext cx="57177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95" name="Google Shape;19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69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6"/>
          <p:cNvSpPr txBox="1"/>
          <p:nvPr>
            <p:ph idx="1" type="body"/>
          </p:nvPr>
        </p:nvSpPr>
        <p:spPr>
          <a:xfrm>
            <a:off x="392200" y="1218600"/>
            <a:ext cx="114075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97" name="Google Shape;197;p36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">
  <p:cSld name="OBJECT 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7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69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7"/>
          <p:cNvSpPr txBox="1"/>
          <p:nvPr>
            <p:ph idx="1" type="body"/>
          </p:nvPr>
        </p:nvSpPr>
        <p:spPr>
          <a:xfrm>
            <a:off x="392200" y="1218600"/>
            <a:ext cx="114075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203" name="Google Shape;203;p37"/>
          <p:cNvSpPr/>
          <p:nvPr/>
        </p:nvSpPr>
        <p:spPr>
          <a:xfrm>
            <a:off x="1830633" y="212725"/>
            <a:ext cx="6408600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04" name="Google Shape;204;p37"/>
          <p:cNvSpPr txBox="1"/>
          <p:nvPr>
            <p:ph type="title"/>
          </p:nvPr>
        </p:nvSpPr>
        <p:spPr>
          <a:xfrm>
            <a:off x="2351599" y="212725"/>
            <a:ext cx="57177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5" name="Google Shape;205;p37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OBJECT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rgbClr val="702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8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69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392200" y="1218600"/>
            <a:ext cx="114075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211" name="Google Shape;211;p38"/>
          <p:cNvSpPr/>
          <p:nvPr/>
        </p:nvSpPr>
        <p:spPr>
          <a:xfrm>
            <a:off x="1830633" y="212725"/>
            <a:ext cx="6408600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12" name="Google Shape;212;p38"/>
          <p:cNvSpPr txBox="1"/>
          <p:nvPr>
            <p:ph type="title"/>
          </p:nvPr>
        </p:nvSpPr>
        <p:spPr>
          <a:xfrm>
            <a:off x="2351599" y="212725"/>
            <a:ext cx="57177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3" name="Google Shape;213;p38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chemeClr val="dk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idx="1" type="body"/>
          </p:nvPr>
        </p:nvSpPr>
        <p:spPr>
          <a:xfrm>
            <a:off x="747184" y="2634922"/>
            <a:ext cx="10697700" cy="22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pic>
        <p:nvPicPr>
          <p:cNvPr id="216" name="Google Shape;21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92751"/>
            <a:ext cx="3678717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9"/>
          <p:cNvSpPr txBox="1"/>
          <p:nvPr>
            <p:ph idx="2" type="body"/>
          </p:nvPr>
        </p:nvSpPr>
        <p:spPr>
          <a:xfrm>
            <a:off x="747184" y="1632286"/>
            <a:ext cx="10697700" cy="6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218" name="Google Shape;218;p39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9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chemeClr val="dk2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9"/>
          <p:cNvSpPr/>
          <p:nvPr/>
        </p:nvSpPr>
        <p:spPr>
          <a:xfrm>
            <a:off x="1830633" y="212725"/>
            <a:ext cx="64086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21" name="Google Shape;221;p39"/>
          <p:cNvSpPr txBox="1"/>
          <p:nvPr>
            <p:ph type="title"/>
          </p:nvPr>
        </p:nvSpPr>
        <p:spPr>
          <a:xfrm>
            <a:off x="2351599" y="212725"/>
            <a:ext cx="57177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69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0"/>
          <p:cNvSpPr/>
          <p:nvPr/>
        </p:nvSpPr>
        <p:spPr>
          <a:xfrm>
            <a:off x="1830633" y="212725"/>
            <a:ext cx="6408600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27" name="Google Shape;227;p40"/>
          <p:cNvSpPr txBox="1"/>
          <p:nvPr>
            <p:ph type="title"/>
          </p:nvPr>
        </p:nvSpPr>
        <p:spPr>
          <a:xfrm>
            <a:off x="2351599" y="212725"/>
            <a:ext cx="57177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8" name="Google Shape;228;p40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6">
  <p:cSld name="Título y objetos 6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2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lt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69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2"/>
          <p:cNvSpPr txBox="1"/>
          <p:nvPr>
            <p:ph idx="1" type="body"/>
          </p:nvPr>
        </p:nvSpPr>
        <p:spPr>
          <a:xfrm>
            <a:off x="392200" y="1218600"/>
            <a:ext cx="114075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236" name="Google Shape;236;p42"/>
          <p:cNvSpPr/>
          <p:nvPr/>
        </p:nvSpPr>
        <p:spPr>
          <a:xfrm>
            <a:off x="1830633" y="212725"/>
            <a:ext cx="6408600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7" name="Google Shape;237;p42"/>
          <p:cNvSpPr txBox="1"/>
          <p:nvPr>
            <p:ph type="title"/>
          </p:nvPr>
        </p:nvSpPr>
        <p:spPr>
          <a:xfrm>
            <a:off x="2351599" y="212725"/>
            <a:ext cx="57177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8" name="Google Shape;238;p42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seño personalizado">
  <p:cSld name="3_Diseño personalizado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41" y="0"/>
            <a:ext cx="1218791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3"/>
          <p:cNvSpPr txBox="1"/>
          <p:nvPr>
            <p:ph type="title"/>
          </p:nvPr>
        </p:nvSpPr>
        <p:spPr>
          <a:xfrm>
            <a:off x="4016505" y="4260740"/>
            <a:ext cx="59322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41" y="0"/>
            <a:ext cx="1218791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4"/>
          <p:cNvSpPr txBox="1"/>
          <p:nvPr>
            <p:ph type="title"/>
          </p:nvPr>
        </p:nvSpPr>
        <p:spPr>
          <a:xfrm>
            <a:off x="2907441" y="4214532"/>
            <a:ext cx="59322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/>
          <p:nvPr>
            <p:ph type="title"/>
          </p:nvPr>
        </p:nvSpPr>
        <p:spPr>
          <a:xfrm>
            <a:off x="2907441" y="4214532"/>
            <a:ext cx="59322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47" name="Google Shape;247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42"/>
            <a:ext cx="1218791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 txBox="1"/>
          <p:nvPr>
            <p:ph type="title"/>
          </p:nvPr>
        </p:nvSpPr>
        <p:spPr>
          <a:xfrm>
            <a:off x="2907441" y="4214532"/>
            <a:ext cx="59322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50" name="Google Shape;25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41" y="0"/>
            <a:ext cx="1218791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Diseño personalizado">
  <p:cSld name="8_Diseño personalizado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432" cy="6857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7"/>
          <p:cNvSpPr/>
          <p:nvPr/>
        </p:nvSpPr>
        <p:spPr>
          <a:xfrm>
            <a:off x="293939" y="1601757"/>
            <a:ext cx="5999100" cy="1386300"/>
          </a:xfrm>
          <a:prstGeom prst="rect">
            <a:avLst/>
          </a:prstGeom>
          <a:solidFill>
            <a:schemeClr val="dk1">
              <a:alpha val="5843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7"/>
          <p:cNvSpPr txBox="1"/>
          <p:nvPr>
            <p:ph type="title"/>
          </p:nvPr>
        </p:nvSpPr>
        <p:spPr>
          <a:xfrm>
            <a:off x="558472" y="1828283"/>
            <a:ext cx="54702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5" name="Google Shape;255;p47"/>
          <p:cNvSpPr/>
          <p:nvPr/>
        </p:nvSpPr>
        <p:spPr>
          <a:xfrm>
            <a:off x="3900641" y="3874990"/>
            <a:ext cx="7653300" cy="2568300"/>
          </a:xfrm>
          <a:prstGeom prst="rect">
            <a:avLst/>
          </a:prstGeom>
          <a:solidFill>
            <a:schemeClr val="dk1">
              <a:alpha val="5843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2" cy="685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67"/>
            <a:ext cx="12195180" cy="685573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8"/>
          <p:cNvSpPr/>
          <p:nvPr/>
        </p:nvSpPr>
        <p:spPr>
          <a:xfrm>
            <a:off x="458260" y="3798662"/>
            <a:ext cx="5999100" cy="1386300"/>
          </a:xfrm>
          <a:prstGeom prst="rect">
            <a:avLst/>
          </a:prstGeom>
          <a:solidFill>
            <a:schemeClr val="dk1">
              <a:alpha val="5843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8"/>
          <p:cNvSpPr txBox="1"/>
          <p:nvPr>
            <p:ph type="title"/>
          </p:nvPr>
        </p:nvSpPr>
        <p:spPr>
          <a:xfrm>
            <a:off x="718288" y="3997032"/>
            <a:ext cx="54702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36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42.xml"/><Relationship Id="rId6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351600" y="212725"/>
            <a:ext cx="90024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92200" y="1218600"/>
            <a:ext cx="114075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type="title"/>
          </p:nvPr>
        </p:nvSpPr>
        <p:spPr>
          <a:xfrm>
            <a:off x="2351600" y="212725"/>
            <a:ext cx="90024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Relationship Id="rId4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4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9"/>
          <p:cNvSpPr txBox="1"/>
          <p:nvPr>
            <p:ph type="ctrTitle"/>
          </p:nvPr>
        </p:nvSpPr>
        <p:spPr>
          <a:xfrm>
            <a:off x="1721213" y="5276020"/>
            <a:ext cx="4112779" cy="239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sz="3600"/>
              <a:t>Ingeniería de Software</a:t>
            </a:r>
            <a:br>
              <a:rPr lang="es-ES" sz="3600"/>
            </a:br>
            <a:r>
              <a:rPr lang="es-ES" sz="3600"/>
              <a:t>Evaluación N°1</a:t>
            </a:r>
            <a:endParaRPr sz="3600"/>
          </a:p>
        </p:txBody>
      </p:sp>
      <p:sp>
        <p:nvSpPr>
          <p:cNvPr id="266" name="Google Shape;266;p49"/>
          <p:cNvSpPr/>
          <p:nvPr>
            <p:ph idx="1" type="subTitle"/>
          </p:nvPr>
        </p:nvSpPr>
        <p:spPr>
          <a:xfrm>
            <a:off x="1315862" y="5753502"/>
            <a:ext cx="5283748" cy="693523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0" lIns="91425" spcFirstLastPara="1" rIns="182875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s-ES" sz="3600"/>
              <a:t>RQY1101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 txBox="1"/>
          <p:nvPr>
            <p:ph idx="4294967295" type="sldNum"/>
          </p:nvPr>
        </p:nvSpPr>
        <p:spPr>
          <a:xfrm>
            <a:off x="101346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72" name="Google Shape;272;p50"/>
          <p:cNvSpPr txBox="1"/>
          <p:nvPr>
            <p:ph idx="4294967295" type="body"/>
          </p:nvPr>
        </p:nvSpPr>
        <p:spPr>
          <a:xfrm>
            <a:off x="340713" y="3011446"/>
            <a:ext cx="6096000" cy="264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5080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s-ES">
                <a:solidFill>
                  <a:schemeClr val="dk1"/>
                </a:solidFill>
              </a:rPr>
              <a:t>Sección: </a:t>
            </a:r>
            <a:r>
              <a:rPr lang="es-ES" sz="2200">
                <a:solidFill>
                  <a:schemeClr val="dk1"/>
                </a:solidFill>
              </a:rPr>
              <a:t>002D</a:t>
            </a:r>
            <a:br>
              <a:rPr b="1" lang="es-ES">
                <a:solidFill>
                  <a:schemeClr val="dk1"/>
                </a:solidFill>
              </a:rPr>
            </a:br>
            <a:r>
              <a:rPr b="1" lang="es-ES">
                <a:solidFill>
                  <a:schemeClr val="dk1"/>
                </a:solidFill>
              </a:rPr>
              <a:t>Docente:</a:t>
            </a:r>
            <a:r>
              <a:rPr lang="es-ES" sz="2200">
                <a:solidFill>
                  <a:schemeClr val="dk1"/>
                </a:solidFill>
              </a:rPr>
              <a:t>Carlos Fabian Delgado Guerrero</a:t>
            </a:r>
            <a:br>
              <a:rPr b="1" lang="es-ES">
                <a:solidFill>
                  <a:schemeClr val="dk1"/>
                </a:solidFill>
              </a:rPr>
            </a:br>
            <a:r>
              <a:rPr b="1" lang="es-ES">
                <a:solidFill>
                  <a:schemeClr val="dk1"/>
                </a:solidFill>
              </a:rPr>
              <a:t>Grupo Nº: </a:t>
            </a:r>
            <a:br>
              <a:rPr b="1" lang="es-ES">
                <a:solidFill>
                  <a:schemeClr val="dk1"/>
                </a:solidFill>
              </a:rPr>
            </a:br>
            <a:r>
              <a:rPr b="1" lang="es-ES">
                <a:solidFill>
                  <a:schemeClr val="dk1"/>
                </a:solidFill>
              </a:rPr>
              <a:t>Integrantes: </a:t>
            </a:r>
            <a:r>
              <a:rPr lang="es-ES" sz="2200">
                <a:solidFill>
                  <a:schemeClr val="dk1"/>
                </a:solidFill>
              </a:rPr>
              <a:t>Benjamin Sepulveda, Luis Figueroa, Alan Mancilla, Benjamin Yovanovich</a:t>
            </a:r>
            <a:endParaRPr sz="2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1"/>
          <p:cNvSpPr txBox="1"/>
          <p:nvPr>
            <p:ph type="title"/>
          </p:nvPr>
        </p:nvSpPr>
        <p:spPr>
          <a:xfrm>
            <a:off x="4783383" y="4972050"/>
            <a:ext cx="5470133" cy="891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ES" sz="4000">
                <a:solidFill>
                  <a:schemeClr val="lt1"/>
                </a:solidFill>
              </a:rPr>
              <a:t>Introducción</a:t>
            </a:r>
            <a:endParaRPr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2"/>
          <p:cNvSpPr txBox="1"/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/>
              <a:t>Entorno de negocio</a:t>
            </a:r>
            <a:endParaRPr/>
          </a:p>
        </p:txBody>
      </p:sp>
      <p:sp>
        <p:nvSpPr>
          <p:cNvPr id="283" name="Google Shape;283;p52"/>
          <p:cNvSpPr txBox="1"/>
          <p:nvPr/>
        </p:nvSpPr>
        <p:spPr>
          <a:xfrm>
            <a:off x="3168575" y="339800"/>
            <a:ext cx="21669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2"/>
          <p:cNvSpPr txBox="1"/>
          <p:nvPr/>
        </p:nvSpPr>
        <p:spPr>
          <a:xfrm>
            <a:off x="371200" y="1272225"/>
            <a:ext cx="1060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285" name="Google Shape;28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4099" y="1437550"/>
            <a:ext cx="2724000" cy="181270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52"/>
          <p:cNvSpPr txBox="1"/>
          <p:nvPr/>
        </p:nvSpPr>
        <p:spPr>
          <a:xfrm>
            <a:off x="5620075" y="957950"/>
            <a:ext cx="27240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</a:rPr>
              <a:t>GarzonPro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287" name="Google Shape;287;p52"/>
          <p:cNvSpPr txBox="1"/>
          <p:nvPr/>
        </p:nvSpPr>
        <p:spPr>
          <a:xfrm>
            <a:off x="824850" y="1722138"/>
            <a:ext cx="3000000" cy="18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ES"/>
              <a:t>La industria carece</a:t>
            </a:r>
            <a:r>
              <a:rPr b="1" i="1" lang="es-ES"/>
              <a:t> de un sistema de gestión de inventario.</a:t>
            </a:r>
            <a:endParaRPr b="1"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300"/>
              <a:t>X</a:t>
            </a:r>
            <a:r>
              <a:rPr lang="es-ES" sz="1300"/>
              <a:t> Uso ineficiente del espacio en bodega.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ES" sz="1300"/>
              <a:t>X</a:t>
            </a:r>
            <a:r>
              <a:rPr lang="es-ES" sz="1300"/>
              <a:t> Desorganización y conflictos entre el staff.</a:t>
            </a:r>
            <a:endParaRPr b="1" sz="1300"/>
          </a:p>
        </p:txBody>
      </p:sp>
      <p:sp>
        <p:nvSpPr>
          <p:cNvPr id="288" name="Google Shape;288;p52"/>
          <p:cNvSpPr txBox="1"/>
          <p:nvPr/>
        </p:nvSpPr>
        <p:spPr>
          <a:xfrm>
            <a:off x="8910525" y="1834525"/>
            <a:ext cx="30000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300"/>
              <a:t>X</a:t>
            </a:r>
            <a:r>
              <a:rPr lang="es-ES" sz="1300"/>
              <a:t> Tiempos de espera prolongados que afectan la experiencia del cliente.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ES" sz="1300"/>
              <a:t>X</a:t>
            </a:r>
            <a:r>
              <a:rPr lang="es-ES" sz="1300"/>
              <a:t> Dificultad para dividir cuentas y cuadrar las ventas diarias.</a:t>
            </a:r>
            <a:endParaRPr sz="1300"/>
          </a:p>
        </p:txBody>
      </p:sp>
      <p:sp>
        <p:nvSpPr>
          <p:cNvPr id="289" name="Google Shape;289;p52"/>
          <p:cNvSpPr txBox="1"/>
          <p:nvPr/>
        </p:nvSpPr>
        <p:spPr>
          <a:xfrm>
            <a:off x="2450575" y="4196150"/>
            <a:ext cx="39588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100"/>
              <a:t>Propuesta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100"/>
              <a:t>Implementación de un sistema integral de </a:t>
            </a:r>
            <a:r>
              <a:rPr b="1" lang="es-ES" sz="1100"/>
              <a:t>Punto de Venta  y Pantalla de Cocina (KDS)</a:t>
            </a:r>
            <a:r>
              <a:rPr lang="es-ES" sz="1100"/>
              <a:t>, rápido, seguro y sincronizado en tiempo real.</a:t>
            </a:r>
            <a:endParaRPr sz="1100"/>
          </a:p>
        </p:txBody>
      </p:sp>
      <p:pic>
        <p:nvPicPr>
          <p:cNvPr id="290" name="Google Shape;29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6425" y="4016900"/>
            <a:ext cx="2962275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/>
          <p:nvPr>
            <p:ph type="title"/>
          </p:nvPr>
        </p:nvSpPr>
        <p:spPr>
          <a:xfrm>
            <a:off x="1474901" y="433331"/>
            <a:ext cx="103023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ES" sz="2800">
                <a:solidFill>
                  <a:schemeClr val="dk1"/>
                </a:solidFill>
              </a:rPr>
              <a:t>Problemática a resolver</a:t>
            </a:r>
            <a:endParaRPr/>
          </a:p>
        </p:txBody>
      </p:sp>
      <p:pic>
        <p:nvPicPr>
          <p:cNvPr id="296" name="Google Shape;296;p53" title="Gemini_Generated_Image_i7istki7istki7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5051" y="1680151"/>
            <a:ext cx="3302101" cy="190039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53"/>
          <p:cNvSpPr txBox="1"/>
          <p:nvPr/>
        </p:nvSpPr>
        <p:spPr>
          <a:xfrm>
            <a:off x="4571325" y="1743150"/>
            <a:ext cx="38025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98" name="Google Shape;298;p53"/>
          <p:cNvSpPr txBox="1"/>
          <p:nvPr/>
        </p:nvSpPr>
        <p:spPr>
          <a:xfrm>
            <a:off x="5220175" y="782275"/>
            <a:ext cx="380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/>
              <a:t>El caos de la gestión manual en el restaurante</a:t>
            </a:r>
            <a:endParaRPr b="1" sz="1800"/>
          </a:p>
        </p:txBody>
      </p:sp>
      <p:sp>
        <p:nvSpPr>
          <p:cNvPr id="299" name="Google Shape;299;p53"/>
          <p:cNvSpPr txBox="1"/>
          <p:nvPr/>
        </p:nvSpPr>
        <p:spPr>
          <a:xfrm>
            <a:off x="878250" y="1963550"/>
            <a:ext cx="33021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/>
              <a:t>Problemas del Garzón</a:t>
            </a:r>
            <a:r>
              <a:rPr b="1" lang="es-ES" sz="1800"/>
              <a:t> 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/>
              <a:t>X</a:t>
            </a:r>
            <a:r>
              <a:rPr lang="es-ES" sz="1600"/>
              <a:t> Toma de pedidos lenta en papel, propensa a errores de escritura u olvidos. }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/>
              <a:t>X</a:t>
            </a:r>
            <a:r>
              <a:rPr lang="es-ES" sz="1600"/>
              <a:t> Demoras y estrés al momento de calcular o dividir las cuentas por comensal.</a:t>
            </a:r>
            <a:endParaRPr sz="1900"/>
          </a:p>
        </p:txBody>
      </p:sp>
      <p:sp>
        <p:nvSpPr>
          <p:cNvPr id="300" name="Google Shape;300;p53"/>
          <p:cNvSpPr txBox="1"/>
          <p:nvPr/>
        </p:nvSpPr>
        <p:spPr>
          <a:xfrm>
            <a:off x="6147125" y="4128325"/>
            <a:ext cx="29811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01" name="Google Shape;301;p53"/>
          <p:cNvSpPr txBox="1"/>
          <p:nvPr/>
        </p:nvSpPr>
        <p:spPr>
          <a:xfrm>
            <a:off x="8764800" y="1843150"/>
            <a:ext cx="3802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700"/>
              <a:t>Problemas del Administrador</a:t>
            </a:r>
            <a:endParaRPr b="1" sz="1700"/>
          </a:p>
        </p:txBody>
      </p:sp>
      <p:sp>
        <p:nvSpPr>
          <p:cNvPr id="302" name="Google Shape;302;p53"/>
          <p:cNvSpPr txBox="1"/>
          <p:nvPr/>
        </p:nvSpPr>
        <p:spPr>
          <a:xfrm>
            <a:off x="8881750" y="2289550"/>
            <a:ext cx="300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/>
              <a:t>X</a:t>
            </a:r>
            <a:r>
              <a:rPr lang="es-ES" sz="1500"/>
              <a:t> Cierre de cajas lento y falta de información de ventas en tiempo real.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/>
              <a:t> </a:t>
            </a:r>
            <a:r>
              <a:rPr b="1" lang="es-ES" sz="1500"/>
              <a:t>X</a:t>
            </a:r>
            <a:r>
              <a:rPr lang="es-ES" sz="1500"/>
              <a:t> Dificultad para actualizar precios o avisar al salón cuando un plato se queda sin stock</a:t>
            </a:r>
            <a:r>
              <a:rPr lang="es-ES" sz="1100"/>
              <a:t>.</a:t>
            </a:r>
            <a:endParaRPr/>
          </a:p>
        </p:txBody>
      </p:sp>
      <p:sp>
        <p:nvSpPr>
          <p:cNvPr id="303" name="Google Shape;303;p53"/>
          <p:cNvSpPr txBox="1"/>
          <p:nvPr/>
        </p:nvSpPr>
        <p:spPr>
          <a:xfrm>
            <a:off x="2869875" y="4787225"/>
            <a:ext cx="3561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700"/>
              <a:t>Consecuencia Final</a:t>
            </a:r>
            <a:r>
              <a:rPr lang="es-ES" sz="1700"/>
              <a:t> Tiempos de espera prolongados, estrés en el personal, pérdida de dinero y, lo más importante, </a:t>
            </a:r>
            <a:r>
              <a:rPr b="1" lang="es-ES" sz="1700"/>
              <a:t>una mala experiencia para el cliente</a:t>
            </a:r>
            <a:r>
              <a:rPr lang="es-ES" sz="1700"/>
              <a:t>.</a:t>
            </a:r>
            <a:endParaRPr sz="2000"/>
          </a:p>
        </p:txBody>
      </p:sp>
      <p:pic>
        <p:nvPicPr>
          <p:cNvPr id="304" name="Google Shape;30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6113" y="4519025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4"/>
          <p:cNvSpPr txBox="1"/>
          <p:nvPr>
            <p:ph type="title"/>
          </p:nvPr>
        </p:nvSpPr>
        <p:spPr>
          <a:xfrm>
            <a:off x="2936416" y="2749423"/>
            <a:ext cx="547013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ES" sz="2600">
                <a:solidFill>
                  <a:schemeClr val="lt1"/>
                </a:solidFill>
              </a:rPr>
              <a:t>Descripción General del Proyecto</a:t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5"/>
          <p:cNvSpPr txBox="1"/>
          <p:nvPr>
            <p:ph type="title"/>
          </p:nvPr>
        </p:nvSpPr>
        <p:spPr>
          <a:xfrm>
            <a:off x="1474901" y="433331"/>
            <a:ext cx="10302300" cy="44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55"/>
          <p:cNvSpPr/>
          <p:nvPr/>
        </p:nvSpPr>
        <p:spPr>
          <a:xfrm>
            <a:off x="6281450" y="2746225"/>
            <a:ext cx="2442900" cy="110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BC842"/>
          </a:solidFill>
          <a:ln cap="flat" cmpd="sng" w="9525">
            <a:solidFill>
              <a:srgbClr val="8188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16" name="Google Shape;316;p55"/>
          <p:cNvSpPr txBox="1"/>
          <p:nvPr/>
        </p:nvSpPr>
        <p:spPr>
          <a:xfrm>
            <a:off x="6387625" y="2996575"/>
            <a:ext cx="1740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300">
                <a:solidFill>
                  <a:srgbClr val="17274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PROPÓSITO</a:t>
            </a:r>
            <a:endParaRPr b="1" sz="2300">
              <a:solidFill>
                <a:srgbClr val="17274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17" name="Google Shape;317;p55"/>
          <p:cNvSpPr txBox="1"/>
          <p:nvPr/>
        </p:nvSpPr>
        <p:spPr>
          <a:xfrm>
            <a:off x="338750" y="1297075"/>
            <a:ext cx="6246300" cy="4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ES" sz="2200"/>
              <a:t>GarzonPro</a:t>
            </a:r>
            <a:r>
              <a:rPr i="1" lang="es-ES" sz="2200"/>
              <a:t> </a:t>
            </a:r>
            <a:endParaRPr b="1" sz="16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FF00"/>
              </a:buClr>
              <a:buSzPts val="1400"/>
              <a:buChar char="★"/>
            </a:pPr>
            <a:r>
              <a:rPr lang="es-ES"/>
              <a:t>Controlar el acceso seguro al sistema mediante un PIN numérico asignado a cada rol (Garzón, Cocinero, Administrador).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400"/>
              <a:buChar char="★"/>
            </a:pPr>
            <a:r>
              <a:rPr lang="es-ES"/>
              <a:t>Gestionar la selección de mesas, toma de pedidos digitales y envío automático de comandas.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400"/>
              <a:buChar char="★"/>
            </a:pPr>
            <a:r>
              <a:rPr lang="es-ES"/>
              <a:t> Visualizar cronológicamente los pedidos en tiempo real a través de una pantalla pasiva en la cocina.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400"/>
              <a:buChar char="★"/>
            </a:pPr>
            <a:r>
              <a:rPr lang="es-ES"/>
              <a:t>Facilitar la división de cuentas, el registro rápido de pagos y la liberación de mesas en el mapa.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400"/>
              <a:buChar char="★"/>
            </a:pPr>
            <a:r>
              <a:rPr lang="es-ES"/>
              <a:t>Administrar de forma centralizada el catálogo del menú, los precios y la disponibilidad de productos.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400"/>
              <a:buChar char="★"/>
            </a:pPr>
            <a:r>
              <a:rPr lang="es-ES"/>
              <a:t>Generar reportes rápidos de ventas acumuladas y gestionar el plano de mesas del local.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55"/>
          <p:cNvSpPr txBox="1"/>
          <p:nvPr/>
        </p:nvSpPr>
        <p:spPr>
          <a:xfrm>
            <a:off x="1409375" y="1864600"/>
            <a:ext cx="544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19" name="Google Shape;319;p55"/>
          <p:cNvSpPr txBox="1"/>
          <p:nvPr/>
        </p:nvSpPr>
        <p:spPr>
          <a:xfrm>
            <a:off x="4789900" y="547135"/>
            <a:ext cx="59325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17274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Ámbito del Sistema</a:t>
            </a:r>
            <a:endParaRPr sz="3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0" name="Google Shape;320;p55"/>
          <p:cNvSpPr txBox="1"/>
          <p:nvPr/>
        </p:nvSpPr>
        <p:spPr>
          <a:xfrm flipH="1">
            <a:off x="8843825" y="2746228"/>
            <a:ext cx="3214500" cy="11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Automatizar el flujo de atención del restaurante, sincronizando pedidos, cocina y pagos para optimizar los tiempos y facilitar la administración.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6"/>
          <p:cNvSpPr txBox="1"/>
          <p:nvPr>
            <p:ph type="title"/>
          </p:nvPr>
        </p:nvSpPr>
        <p:spPr>
          <a:xfrm>
            <a:off x="1474901" y="433331"/>
            <a:ext cx="103023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ES" sz="2800">
                <a:solidFill>
                  <a:schemeClr val="dk1"/>
                </a:solidFill>
              </a:rPr>
              <a:t>Características de los Usuarios</a:t>
            </a:r>
            <a:endParaRPr/>
          </a:p>
        </p:txBody>
      </p:sp>
      <p:sp>
        <p:nvSpPr>
          <p:cNvPr id="326" name="Google Shape;326;p56"/>
          <p:cNvSpPr txBox="1"/>
          <p:nvPr/>
        </p:nvSpPr>
        <p:spPr>
          <a:xfrm>
            <a:off x="699450" y="1024050"/>
            <a:ext cx="10302300" cy="56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-ES" sz="3200">
                <a:latin typeface="Calibri"/>
                <a:ea typeface="Calibri"/>
                <a:cs typeface="Calibri"/>
                <a:sym typeface="Calibri"/>
              </a:rPr>
              <a:t>Cocinero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3200">
                <a:latin typeface="Calibri"/>
                <a:ea typeface="Calibri"/>
                <a:cs typeface="Calibri"/>
                <a:sym typeface="Calibri"/>
              </a:rPr>
              <a:t>Consulta comandas para planificar preparaciones.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-ES" sz="3200">
                <a:latin typeface="Calibri"/>
                <a:ea typeface="Calibri"/>
                <a:cs typeface="Calibri"/>
                <a:sym typeface="Calibri"/>
              </a:rPr>
              <a:t>Garzón 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3200">
                <a:latin typeface="Calibri"/>
                <a:ea typeface="Calibri"/>
                <a:cs typeface="Calibri"/>
                <a:sym typeface="Calibri"/>
              </a:rPr>
              <a:t>Registra entradas y salidas de comandas.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s-ES" sz="3200">
                <a:latin typeface="Calibri"/>
                <a:ea typeface="Calibri"/>
                <a:cs typeface="Calibri"/>
                <a:sym typeface="Calibri"/>
              </a:rPr>
              <a:t>Gerente/Propietario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3200">
                <a:latin typeface="Calibri"/>
                <a:ea typeface="Calibri"/>
                <a:cs typeface="Calibri"/>
                <a:sym typeface="Calibri"/>
              </a:rPr>
              <a:t>Supervisa y gestiona cambios en el restaurant.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327" name="Google Shape;32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0850" y="254725"/>
            <a:ext cx="1552175" cy="155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0425" y="4337275"/>
            <a:ext cx="1252150" cy="125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56" title="Gemini_Generated_Image_y8lw7vy8lw7vy8l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9190" y="2423269"/>
            <a:ext cx="1363611" cy="1470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7"/>
          <p:cNvSpPr txBox="1"/>
          <p:nvPr>
            <p:ph type="title"/>
          </p:nvPr>
        </p:nvSpPr>
        <p:spPr>
          <a:xfrm>
            <a:off x="4783383" y="4972050"/>
            <a:ext cx="5470133" cy="891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ES" sz="4000">
                <a:solidFill>
                  <a:schemeClr val="lt1"/>
                </a:solidFill>
              </a:rPr>
              <a:t>Requisitos del Proyecto</a:t>
            </a:r>
            <a:endParaRPr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8"/>
          <p:cNvSpPr txBox="1"/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/>
              <a:t>Entorno de negocio</a:t>
            </a:r>
            <a:endParaRPr/>
          </a:p>
        </p:txBody>
      </p:sp>
      <p:sp>
        <p:nvSpPr>
          <p:cNvPr id="340" name="Google Shape;340;p58"/>
          <p:cNvSpPr txBox="1"/>
          <p:nvPr/>
        </p:nvSpPr>
        <p:spPr>
          <a:xfrm>
            <a:off x="1474900" y="250800"/>
            <a:ext cx="50754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</a:pPr>
            <a:r>
              <a:rPr b="1" lang="es-ES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Módulos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7075" y="68975"/>
            <a:ext cx="1734925" cy="1734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2" name="Google Shape;342;p58"/>
          <p:cNvGraphicFramePr/>
          <p:nvPr/>
        </p:nvGraphicFramePr>
        <p:xfrm>
          <a:off x="350300" y="1941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{B2889615-6D05-494A-9FC2-2C6D2621FA5C}</a:tableStyleId>
              </a:tblPr>
              <a:tblGrid>
                <a:gridCol w="561975"/>
                <a:gridCol w="1590675"/>
                <a:gridCol w="8705850"/>
              </a:tblGrid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Módulo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Por qué es crítico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RF-01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Acceso y Seguridad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Es la </a:t>
                      </a: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llave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. Sin validación de PIN no hay trazabilidad ni seguridad; cualquiera podría borrar cuentas o cobrar sin permiso.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RF-05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Operación de Salón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Es el </a:t>
                      </a: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motor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. La toma de pedidos digital es la razón de ser del POS; si esto falla, el restaurante vuelve al papel inmediatamente.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RF-08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Gestión de Cocina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Es la </a:t>
                      </a: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comunicación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. Si la cocina no recibe los pedidos en tiempo real, el servicio se paraliza y el cliente no recibe su comida.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RF-11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Administración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Es el </a:t>
                      </a: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control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. Sin poder editar precios o disponibilidad, el sistema queda obsoleto rápidamente cuando se acaba un ingrediente.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9"/>
          <p:cNvSpPr txBox="1"/>
          <p:nvPr>
            <p:ph type="title"/>
          </p:nvPr>
        </p:nvSpPr>
        <p:spPr>
          <a:xfrm>
            <a:off x="1474901" y="433331"/>
            <a:ext cx="10302300" cy="44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9"/>
          <p:cNvSpPr txBox="1"/>
          <p:nvPr/>
        </p:nvSpPr>
        <p:spPr>
          <a:xfrm>
            <a:off x="1474900" y="346350"/>
            <a:ext cx="3598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Requisitos no funcionales </a:t>
            </a:r>
            <a:endParaRPr/>
          </a:p>
        </p:txBody>
      </p:sp>
      <p:graphicFrame>
        <p:nvGraphicFramePr>
          <p:cNvPr id="349" name="Google Shape;349;p59"/>
          <p:cNvGraphicFramePr/>
          <p:nvPr/>
        </p:nvGraphicFramePr>
        <p:xfrm>
          <a:off x="6114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{B2889615-6D05-494A-9FC2-2C6D2621FA5C}</a:tableStyleId>
              </a:tblPr>
              <a:tblGrid>
                <a:gridCol w="576425"/>
                <a:gridCol w="2288475"/>
                <a:gridCol w="1058200"/>
                <a:gridCol w="7046100"/>
              </a:tblGrid>
              <a:tr h="439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Módulo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Atributo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Descripción del Requisito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97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RNF-01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Módulo 1: Acceso y Seguridad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Seguridad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El sistema debe validar el código PIN de acceso de forma encriptada para proteger la sesión del usuario en menos de 1 segundo.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RNF-02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Módulo 2: Operación de Salón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Usabilidad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El sistema debe permitir al garzón dividir una cuenta de mesa de forma intuitiva en menos de 3 clics.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RNF-03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Módulo 3: Gestión de Cocina (KDS)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Rendimiento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El sistema debe sincronizar y mostrar las comandas enviadas desde el salón hasta la pantalla de la cocina en menos de 2 segundos.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RNF-04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Módulo 4: Administración y Reportes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Funcionalidad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El sistema debe calcular el total de dinero a pagar y sumar los reportes de ventas diarios sin errores matemáticos en menos de 1 segundo.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0"/>
          <p:cNvSpPr txBox="1"/>
          <p:nvPr>
            <p:ph type="title"/>
          </p:nvPr>
        </p:nvSpPr>
        <p:spPr>
          <a:xfrm>
            <a:off x="4783383" y="4972050"/>
            <a:ext cx="54702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ES" sz="4000">
                <a:solidFill>
                  <a:schemeClr val="lt1"/>
                </a:solidFill>
              </a:rPr>
              <a:t>Diagramas</a:t>
            </a:r>
            <a:endParaRPr sz="4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1"/>
          <p:cNvSpPr txBox="1"/>
          <p:nvPr>
            <p:ph idx="1" type="body"/>
          </p:nvPr>
        </p:nvSpPr>
        <p:spPr>
          <a:xfrm>
            <a:off x="107048" y="466434"/>
            <a:ext cx="10183800" cy="447900"/>
          </a:xfrm>
          <a:prstGeom prst="rect">
            <a:avLst/>
          </a:prstGeom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683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Garzón, Cocinero y Administrador</a:t>
            </a:r>
            <a:endParaRPr sz="2683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0" name="Google Shape;360;p61"/>
          <p:cNvSpPr/>
          <p:nvPr/>
        </p:nvSpPr>
        <p:spPr>
          <a:xfrm>
            <a:off x="405475" y="1315100"/>
            <a:ext cx="3931800" cy="379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1"/>
          <p:cNvSpPr/>
          <p:nvPr/>
        </p:nvSpPr>
        <p:spPr>
          <a:xfrm>
            <a:off x="405475" y="1315100"/>
            <a:ext cx="3931800" cy="384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61"/>
          <p:cNvSpPr/>
          <p:nvPr/>
        </p:nvSpPr>
        <p:spPr>
          <a:xfrm>
            <a:off x="362325" y="1369975"/>
            <a:ext cx="393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s-E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Escenario: "Garzón hace un pedido"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61"/>
          <p:cNvSpPr/>
          <p:nvPr/>
        </p:nvSpPr>
        <p:spPr>
          <a:xfrm>
            <a:off x="4674235" y="1826089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61"/>
          <p:cNvSpPr/>
          <p:nvPr/>
        </p:nvSpPr>
        <p:spPr>
          <a:xfrm>
            <a:off x="4674235" y="1826089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61"/>
          <p:cNvSpPr/>
          <p:nvPr/>
        </p:nvSpPr>
        <p:spPr>
          <a:xfrm>
            <a:off x="908396" y="1845451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Garzón ingresa su PIN de seguridad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61"/>
          <p:cNvCxnSpPr/>
          <p:nvPr/>
        </p:nvCxnSpPr>
        <p:spPr>
          <a:xfrm>
            <a:off x="4811395" y="2100409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61"/>
          <p:cNvSpPr/>
          <p:nvPr/>
        </p:nvSpPr>
        <p:spPr>
          <a:xfrm>
            <a:off x="4674235" y="2274144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61"/>
          <p:cNvSpPr/>
          <p:nvPr/>
        </p:nvSpPr>
        <p:spPr>
          <a:xfrm>
            <a:off x="4674235" y="227414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61"/>
          <p:cNvSpPr/>
          <p:nvPr/>
        </p:nvSpPr>
        <p:spPr>
          <a:xfrm>
            <a:off x="908396" y="2293505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Sistema valida credenciales y muestra salón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61"/>
          <p:cNvCxnSpPr/>
          <p:nvPr/>
        </p:nvCxnSpPr>
        <p:spPr>
          <a:xfrm>
            <a:off x="4811395" y="2548464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61"/>
          <p:cNvSpPr/>
          <p:nvPr/>
        </p:nvSpPr>
        <p:spPr>
          <a:xfrm>
            <a:off x="4674235" y="2722199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61"/>
          <p:cNvSpPr/>
          <p:nvPr/>
        </p:nvSpPr>
        <p:spPr>
          <a:xfrm>
            <a:off x="4674235" y="2722199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61"/>
          <p:cNvSpPr/>
          <p:nvPr/>
        </p:nvSpPr>
        <p:spPr>
          <a:xfrm>
            <a:off x="908396" y="2741560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Garzón selecciona mesa e inicia comanda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61"/>
          <p:cNvCxnSpPr/>
          <p:nvPr/>
        </p:nvCxnSpPr>
        <p:spPr>
          <a:xfrm>
            <a:off x="4811395" y="2996518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61"/>
          <p:cNvSpPr/>
          <p:nvPr/>
        </p:nvSpPr>
        <p:spPr>
          <a:xfrm>
            <a:off x="4674235" y="3170254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61"/>
          <p:cNvSpPr/>
          <p:nvPr/>
        </p:nvSpPr>
        <p:spPr>
          <a:xfrm>
            <a:off x="4674235" y="317025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61"/>
          <p:cNvSpPr/>
          <p:nvPr/>
        </p:nvSpPr>
        <p:spPr>
          <a:xfrm>
            <a:off x="908396" y="3189615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Garzón selecciona productos y personaliza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61"/>
          <p:cNvCxnSpPr/>
          <p:nvPr/>
        </p:nvCxnSpPr>
        <p:spPr>
          <a:xfrm>
            <a:off x="4811395" y="3444573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61"/>
          <p:cNvSpPr/>
          <p:nvPr/>
        </p:nvSpPr>
        <p:spPr>
          <a:xfrm>
            <a:off x="4674235" y="3618309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61"/>
          <p:cNvSpPr/>
          <p:nvPr/>
        </p:nvSpPr>
        <p:spPr>
          <a:xfrm>
            <a:off x="4674235" y="3618309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61"/>
          <p:cNvSpPr/>
          <p:nvPr/>
        </p:nvSpPr>
        <p:spPr>
          <a:xfrm>
            <a:off x="908396" y="3637670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Sistema valida disponibilidad de insumos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61"/>
          <p:cNvCxnSpPr/>
          <p:nvPr/>
        </p:nvCxnSpPr>
        <p:spPr>
          <a:xfrm>
            <a:off x="4811395" y="3892628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61"/>
          <p:cNvSpPr/>
          <p:nvPr/>
        </p:nvSpPr>
        <p:spPr>
          <a:xfrm>
            <a:off x="4674235" y="4066364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61"/>
          <p:cNvSpPr/>
          <p:nvPr/>
        </p:nvSpPr>
        <p:spPr>
          <a:xfrm>
            <a:off x="4674235" y="406636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61"/>
          <p:cNvSpPr/>
          <p:nvPr/>
        </p:nvSpPr>
        <p:spPr>
          <a:xfrm>
            <a:off x="908396" y="4085725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Garzón confirma y envía orden a cocina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61"/>
          <p:cNvCxnSpPr/>
          <p:nvPr/>
        </p:nvCxnSpPr>
        <p:spPr>
          <a:xfrm>
            <a:off x="4811395" y="4340683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61"/>
          <p:cNvSpPr/>
          <p:nvPr/>
        </p:nvSpPr>
        <p:spPr>
          <a:xfrm>
            <a:off x="4674235" y="4514418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61"/>
          <p:cNvSpPr/>
          <p:nvPr/>
        </p:nvSpPr>
        <p:spPr>
          <a:xfrm>
            <a:off x="4674235" y="4514418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61"/>
          <p:cNvSpPr/>
          <p:nvPr/>
        </p:nvSpPr>
        <p:spPr>
          <a:xfrm>
            <a:off x="908396" y="4533780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Sistema registra la transacción y actualiza mesa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61"/>
          <p:cNvSpPr/>
          <p:nvPr/>
        </p:nvSpPr>
        <p:spPr>
          <a:xfrm>
            <a:off x="6968725" y="1315100"/>
            <a:ext cx="3931800" cy="379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61"/>
          <p:cNvSpPr/>
          <p:nvPr/>
        </p:nvSpPr>
        <p:spPr>
          <a:xfrm>
            <a:off x="6968725" y="1315100"/>
            <a:ext cx="3931800" cy="384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61"/>
          <p:cNvSpPr/>
          <p:nvPr/>
        </p:nvSpPr>
        <p:spPr>
          <a:xfrm>
            <a:off x="6925575" y="1369975"/>
            <a:ext cx="393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s-E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Escenario: </a:t>
            </a:r>
            <a:r>
              <a:rPr b="1" lang="es-ES" sz="1100">
                <a:solidFill>
                  <a:srgbClr val="FFFFFF"/>
                </a:solidFill>
              </a:rPr>
              <a:t>"Cocinero gestiona comandas"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61"/>
          <p:cNvSpPr/>
          <p:nvPr/>
        </p:nvSpPr>
        <p:spPr>
          <a:xfrm>
            <a:off x="11205660" y="1909502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61"/>
          <p:cNvSpPr/>
          <p:nvPr/>
        </p:nvSpPr>
        <p:spPr>
          <a:xfrm>
            <a:off x="11205660" y="1909502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61"/>
          <p:cNvSpPr/>
          <p:nvPr/>
        </p:nvSpPr>
        <p:spPr>
          <a:xfrm>
            <a:off x="7471646" y="1845451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Sistema recibe la comanda desde salón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61"/>
          <p:cNvCxnSpPr/>
          <p:nvPr/>
        </p:nvCxnSpPr>
        <p:spPr>
          <a:xfrm>
            <a:off x="11342820" y="2183821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61"/>
          <p:cNvSpPr/>
          <p:nvPr/>
        </p:nvSpPr>
        <p:spPr>
          <a:xfrm>
            <a:off x="11205660" y="2357557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61"/>
          <p:cNvSpPr/>
          <p:nvPr/>
        </p:nvSpPr>
        <p:spPr>
          <a:xfrm>
            <a:off x="11205660" y="2357557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1"/>
          <p:cNvSpPr/>
          <p:nvPr/>
        </p:nvSpPr>
        <p:spPr>
          <a:xfrm>
            <a:off x="7471646" y="2293505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Sistema valida credenciales y muestra salón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61"/>
          <p:cNvCxnSpPr/>
          <p:nvPr/>
        </p:nvCxnSpPr>
        <p:spPr>
          <a:xfrm>
            <a:off x="11342820" y="2631876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61"/>
          <p:cNvSpPr/>
          <p:nvPr/>
        </p:nvSpPr>
        <p:spPr>
          <a:xfrm>
            <a:off x="11205660" y="2805612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61"/>
          <p:cNvSpPr/>
          <p:nvPr/>
        </p:nvSpPr>
        <p:spPr>
          <a:xfrm>
            <a:off x="11205660" y="2805612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61"/>
          <p:cNvSpPr/>
          <p:nvPr/>
        </p:nvSpPr>
        <p:spPr>
          <a:xfrm>
            <a:off x="7471646" y="2741560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Sistema muestra la comanda en pantalla.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61"/>
          <p:cNvCxnSpPr/>
          <p:nvPr/>
        </p:nvCxnSpPr>
        <p:spPr>
          <a:xfrm>
            <a:off x="11342820" y="3079931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61"/>
          <p:cNvSpPr/>
          <p:nvPr/>
        </p:nvSpPr>
        <p:spPr>
          <a:xfrm>
            <a:off x="11205660" y="3253666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61"/>
          <p:cNvSpPr/>
          <p:nvPr/>
        </p:nvSpPr>
        <p:spPr>
          <a:xfrm>
            <a:off x="11205660" y="3253666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61"/>
          <p:cNvSpPr/>
          <p:nvPr/>
        </p:nvSpPr>
        <p:spPr>
          <a:xfrm>
            <a:off x="7471646" y="3189615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Cocinero lee la pantalla y prepara los platos solicitados.</a:t>
            </a:r>
            <a:endParaRPr sz="1100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61"/>
          <p:cNvCxnSpPr/>
          <p:nvPr/>
        </p:nvCxnSpPr>
        <p:spPr>
          <a:xfrm>
            <a:off x="11342820" y="3527986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61"/>
          <p:cNvSpPr/>
          <p:nvPr/>
        </p:nvSpPr>
        <p:spPr>
          <a:xfrm>
            <a:off x="11205660" y="3701721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61"/>
          <p:cNvSpPr/>
          <p:nvPr/>
        </p:nvSpPr>
        <p:spPr>
          <a:xfrm>
            <a:off x="11205660" y="370172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61"/>
          <p:cNvSpPr/>
          <p:nvPr/>
        </p:nvSpPr>
        <p:spPr>
          <a:xfrm>
            <a:off x="7471646" y="3637670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Sistema cambia el color de la alerta si el tiempo avanza.</a:t>
            </a:r>
            <a:endParaRPr sz="1100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61"/>
          <p:cNvCxnSpPr/>
          <p:nvPr/>
        </p:nvCxnSpPr>
        <p:spPr>
          <a:xfrm>
            <a:off x="11342820" y="3976041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61"/>
          <p:cNvSpPr/>
          <p:nvPr/>
        </p:nvSpPr>
        <p:spPr>
          <a:xfrm>
            <a:off x="11205660" y="4149776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61"/>
          <p:cNvSpPr/>
          <p:nvPr/>
        </p:nvSpPr>
        <p:spPr>
          <a:xfrm>
            <a:off x="11205660" y="4149776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61"/>
          <p:cNvSpPr/>
          <p:nvPr/>
        </p:nvSpPr>
        <p:spPr>
          <a:xfrm>
            <a:off x="7471646" y="4085725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Cocinero termina y deja los platos listos en el mesón.</a:t>
            </a:r>
            <a:endParaRPr sz="1100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61"/>
          <p:cNvCxnSpPr/>
          <p:nvPr/>
        </p:nvCxnSpPr>
        <p:spPr>
          <a:xfrm>
            <a:off x="11342820" y="4424095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61"/>
          <p:cNvSpPr/>
          <p:nvPr/>
        </p:nvSpPr>
        <p:spPr>
          <a:xfrm>
            <a:off x="11205660" y="4597831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61"/>
          <p:cNvSpPr/>
          <p:nvPr/>
        </p:nvSpPr>
        <p:spPr>
          <a:xfrm>
            <a:off x="11205660" y="459783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61"/>
          <p:cNvSpPr/>
          <p:nvPr/>
        </p:nvSpPr>
        <p:spPr>
          <a:xfrm>
            <a:off x="7471646" y="4533780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Sistema elimina la comanda cuando el Garzón marca la entrega.</a:t>
            </a:r>
            <a:endParaRPr sz="1100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2"/>
          <p:cNvSpPr txBox="1"/>
          <p:nvPr>
            <p:ph idx="1" type="body"/>
          </p:nvPr>
        </p:nvSpPr>
        <p:spPr>
          <a:xfrm>
            <a:off x="441023" y="458109"/>
            <a:ext cx="10183800" cy="447900"/>
          </a:xfrm>
          <a:prstGeom prst="rect">
            <a:avLst/>
          </a:prstGeom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683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Garzón, Cocinero y Administrador</a:t>
            </a:r>
            <a:endParaRPr/>
          </a:p>
        </p:txBody>
      </p:sp>
      <p:sp>
        <p:nvSpPr>
          <p:cNvPr id="425" name="Google Shape;425;p62"/>
          <p:cNvSpPr/>
          <p:nvPr/>
        </p:nvSpPr>
        <p:spPr>
          <a:xfrm>
            <a:off x="3753243" y="1203775"/>
            <a:ext cx="5049600" cy="4873500"/>
          </a:xfrm>
          <a:prstGeom prst="rect">
            <a:avLst/>
          </a:prstGeom>
          <a:solidFill>
            <a:srgbClr val="FFFFFF"/>
          </a:solidFill>
          <a:ln cap="flat" cmpd="sng" w="163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130485" rotWithShape="0" algn="bl" dir="8100000" dist="48932">
              <a:srgbClr val="000000">
                <a:alpha val="18040"/>
              </a:srgbClr>
            </a:outerShdw>
          </a:effectLst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62"/>
          <p:cNvSpPr/>
          <p:nvPr/>
        </p:nvSpPr>
        <p:spPr>
          <a:xfrm>
            <a:off x="3753243" y="1203775"/>
            <a:ext cx="5049600" cy="493200"/>
          </a:xfrm>
          <a:prstGeom prst="rect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62"/>
          <p:cNvSpPr/>
          <p:nvPr/>
        </p:nvSpPr>
        <p:spPr>
          <a:xfrm>
            <a:off x="3697825" y="1274251"/>
            <a:ext cx="50496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41"/>
              <a:buFont typeface="Calibri"/>
              <a:buNone/>
            </a:pPr>
            <a:r>
              <a:rPr b="1" lang="es-ES" sz="154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Escenario:</a:t>
            </a:r>
            <a:r>
              <a:rPr b="1" lang="es-ES" sz="167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154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Escenario: "Administrador gestiona local"</a:t>
            </a:r>
            <a:endParaRPr b="1" sz="167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62"/>
          <p:cNvSpPr/>
          <p:nvPr/>
        </p:nvSpPr>
        <p:spPr>
          <a:xfrm>
            <a:off x="3929397" y="1955365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62"/>
          <p:cNvSpPr/>
          <p:nvPr/>
        </p:nvSpPr>
        <p:spPr>
          <a:xfrm>
            <a:off x="3929397" y="1955365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62"/>
          <p:cNvSpPr/>
          <p:nvPr/>
        </p:nvSpPr>
        <p:spPr>
          <a:xfrm>
            <a:off x="4399143" y="1884903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13"/>
              <a:buFont typeface="Calibri"/>
              <a:buNone/>
            </a:pPr>
            <a:r>
              <a:rPr lang="es-ES" sz="1413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Administrador ingresa al sistema con su PIN.</a:t>
            </a:r>
            <a:endParaRPr sz="141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" name="Google Shape;431;p62"/>
          <p:cNvCxnSpPr/>
          <p:nvPr/>
        </p:nvCxnSpPr>
        <p:spPr>
          <a:xfrm>
            <a:off x="4105552" y="2307672"/>
            <a:ext cx="0" cy="152700"/>
          </a:xfrm>
          <a:prstGeom prst="straightConnector1">
            <a:avLst/>
          </a:prstGeom>
          <a:noFill/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" name="Google Shape;432;p62"/>
          <p:cNvSpPr/>
          <p:nvPr/>
        </p:nvSpPr>
        <p:spPr>
          <a:xfrm>
            <a:off x="3929397" y="2530800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62"/>
          <p:cNvSpPr/>
          <p:nvPr/>
        </p:nvSpPr>
        <p:spPr>
          <a:xfrm>
            <a:off x="3929397" y="2530800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62"/>
          <p:cNvSpPr/>
          <p:nvPr/>
        </p:nvSpPr>
        <p:spPr>
          <a:xfrm>
            <a:off x="4399143" y="2460339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13"/>
              <a:buFont typeface="Calibri"/>
              <a:buNone/>
            </a:pPr>
            <a:r>
              <a:rPr lang="es-ES" sz="1413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Administrador actualiza los precios del menú.</a:t>
            </a:r>
            <a:endParaRPr sz="141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62"/>
          <p:cNvCxnSpPr/>
          <p:nvPr/>
        </p:nvCxnSpPr>
        <p:spPr>
          <a:xfrm>
            <a:off x="4105552" y="2883108"/>
            <a:ext cx="0" cy="152700"/>
          </a:xfrm>
          <a:prstGeom prst="straightConnector1">
            <a:avLst/>
          </a:prstGeom>
          <a:noFill/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62"/>
          <p:cNvSpPr/>
          <p:nvPr/>
        </p:nvSpPr>
        <p:spPr>
          <a:xfrm>
            <a:off x="3929397" y="3106236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62"/>
          <p:cNvSpPr/>
          <p:nvPr/>
        </p:nvSpPr>
        <p:spPr>
          <a:xfrm>
            <a:off x="3929397" y="3106236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62"/>
          <p:cNvSpPr/>
          <p:nvPr/>
        </p:nvSpPr>
        <p:spPr>
          <a:xfrm>
            <a:off x="4399143" y="3035775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13"/>
              <a:buFont typeface="Calibri"/>
              <a:buNone/>
            </a:pPr>
            <a:r>
              <a:rPr lang="es-ES" sz="1413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Administrador desactiva productos sin stock.</a:t>
            </a:r>
            <a:endParaRPr sz="141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62"/>
          <p:cNvCxnSpPr/>
          <p:nvPr/>
        </p:nvCxnSpPr>
        <p:spPr>
          <a:xfrm>
            <a:off x="4105552" y="3458544"/>
            <a:ext cx="0" cy="152700"/>
          </a:xfrm>
          <a:prstGeom prst="straightConnector1">
            <a:avLst/>
          </a:prstGeom>
          <a:noFill/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62"/>
          <p:cNvSpPr/>
          <p:nvPr/>
        </p:nvSpPr>
        <p:spPr>
          <a:xfrm>
            <a:off x="3929397" y="3681672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62"/>
          <p:cNvSpPr/>
          <p:nvPr/>
        </p:nvSpPr>
        <p:spPr>
          <a:xfrm>
            <a:off x="3929397" y="3681672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62"/>
          <p:cNvSpPr/>
          <p:nvPr/>
        </p:nvSpPr>
        <p:spPr>
          <a:xfrm>
            <a:off x="4399143" y="3611211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82"/>
              </a:spcAft>
              <a:buClr>
                <a:srgbClr val="000000"/>
              </a:buClr>
              <a:buSzPts val="1413"/>
              <a:buFont typeface="Arial"/>
              <a:buNone/>
            </a:pPr>
            <a:r>
              <a:rPr lang="es-ES" sz="1413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Administrador gestiona y crea PINS para el personal.</a:t>
            </a:r>
            <a:endParaRPr sz="1413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62"/>
          <p:cNvCxnSpPr/>
          <p:nvPr/>
        </p:nvCxnSpPr>
        <p:spPr>
          <a:xfrm>
            <a:off x="4105552" y="4033980"/>
            <a:ext cx="0" cy="152700"/>
          </a:xfrm>
          <a:prstGeom prst="straightConnector1">
            <a:avLst/>
          </a:prstGeom>
          <a:noFill/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4" name="Google Shape;444;p62"/>
          <p:cNvSpPr/>
          <p:nvPr/>
        </p:nvSpPr>
        <p:spPr>
          <a:xfrm>
            <a:off x="3929397" y="4257108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62"/>
          <p:cNvSpPr/>
          <p:nvPr/>
        </p:nvSpPr>
        <p:spPr>
          <a:xfrm>
            <a:off x="3929397" y="4257108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62"/>
          <p:cNvSpPr/>
          <p:nvPr/>
        </p:nvSpPr>
        <p:spPr>
          <a:xfrm>
            <a:off x="4399143" y="4186646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82"/>
              </a:spcAft>
              <a:buClr>
                <a:srgbClr val="000000"/>
              </a:buClr>
              <a:buSzPts val="1413"/>
              <a:buFont typeface="Arial"/>
              <a:buNone/>
            </a:pPr>
            <a:r>
              <a:rPr lang="es-ES" sz="1413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Administrador organiza el plano de mesas del local.</a:t>
            </a:r>
            <a:endParaRPr sz="1413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7" name="Google Shape;447;p62"/>
          <p:cNvCxnSpPr/>
          <p:nvPr/>
        </p:nvCxnSpPr>
        <p:spPr>
          <a:xfrm>
            <a:off x="4105552" y="4609416"/>
            <a:ext cx="0" cy="152700"/>
          </a:xfrm>
          <a:prstGeom prst="straightConnector1">
            <a:avLst/>
          </a:prstGeom>
          <a:noFill/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62"/>
          <p:cNvSpPr/>
          <p:nvPr/>
        </p:nvSpPr>
        <p:spPr>
          <a:xfrm>
            <a:off x="3929397" y="4832544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62"/>
          <p:cNvSpPr/>
          <p:nvPr/>
        </p:nvSpPr>
        <p:spPr>
          <a:xfrm>
            <a:off x="3929397" y="4832544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62"/>
          <p:cNvSpPr/>
          <p:nvPr/>
        </p:nvSpPr>
        <p:spPr>
          <a:xfrm>
            <a:off x="4399143" y="4762082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82"/>
              </a:spcAft>
              <a:buClr>
                <a:srgbClr val="000000"/>
              </a:buClr>
              <a:buSzPts val="1413"/>
              <a:buFont typeface="Arial"/>
              <a:buNone/>
            </a:pPr>
            <a:r>
              <a:rPr lang="es-ES" sz="1413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Administrador solicita registro de total de ventas.</a:t>
            </a:r>
            <a:endParaRPr sz="1413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p62"/>
          <p:cNvCxnSpPr/>
          <p:nvPr/>
        </p:nvCxnSpPr>
        <p:spPr>
          <a:xfrm>
            <a:off x="4105552" y="5184851"/>
            <a:ext cx="0" cy="152700"/>
          </a:xfrm>
          <a:prstGeom prst="straightConnector1">
            <a:avLst/>
          </a:prstGeom>
          <a:noFill/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62"/>
          <p:cNvSpPr/>
          <p:nvPr/>
        </p:nvSpPr>
        <p:spPr>
          <a:xfrm>
            <a:off x="3929397" y="5407980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62"/>
          <p:cNvSpPr/>
          <p:nvPr/>
        </p:nvSpPr>
        <p:spPr>
          <a:xfrm>
            <a:off x="3929397" y="5407980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62"/>
          <p:cNvSpPr/>
          <p:nvPr/>
        </p:nvSpPr>
        <p:spPr>
          <a:xfrm>
            <a:off x="4399143" y="5337518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82"/>
              </a:spcAft>
              <a:buClr>
                <a:srgbClr val="000000"/>
              </a:buClr>
              <a:buSzPts val="1413"/>
              <a:buFont typeface="Arial"/>
              <a:buNone/>
            </a:pPr>
            <a:r>
              <a:rPr lang="es-ES" sz="1413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Sistema muestra reporte de ventas.</a:t>
            </a:r>
            <a:endParaRPr sz="1413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3"/>
          <p:cNvSpPr txBox="1"/>
          <p:nvPr>
            <p:ph idx="4294967295" type="title"/>
          </p:nvPr>
        </p:nvSpPr>
        <p:spPr>
          <a:xfrm>
            <a:off x="3691890" y="482918"/>
            <a:ext cx="4225925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ES">
                <a:solidFill>
                  <a:schemeClr val="dk1"/>
                </a:solidFill>
              </a:rPr>
              <a:t>Preguntas , Conclusiones y reflexiones</a:t>
            </a:r>
            <a:endParaRPr/>
          </a:p>
        </p:txBody>
      </p:sp>
      <p:pic>
        <p:nvPicPr>
          <p:cNvPr descr="http://www.clipartroo.com/images/33/group-talking-clipart-33811.png" id="460" name="Google Shape;46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7998" y="1467168"/>
            <a:ext cx="6306311" cy="4221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